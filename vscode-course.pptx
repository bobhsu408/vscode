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80"/>
                </a:solidFill>
                <a:latin typeface="Microsoft JhengHei"/>
              </a:rPr>
              <a:t>課程教案 · 逐時段講義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2E"/>
                </a:solidFill>
                <a:latin typeface="Microsoft JhengHei"/>
              </a:rPr>
              <a:t>VS Code 入門三小時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Microsoft JhengHei"/>
              </a:rPr>
              <a:t>從零安裝到能寫、能跑、能用終端機與 Git 的基本工作流。
對象：有基礎電腦操作,未寫過程式。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00:00 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今天的路線圖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00:00–00:20  安裝與初次啟動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00:20–00:45  檔案與專案管理：打開下載資料夾與講義文件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00:45–01:05  換主題、換字型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01:05–01:15  繁體中文化（可選）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01:15–01:40  介面認識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01:40–01:50  休息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01:50–02:15  編輯技巧與快捷鍵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02:15–02:25  擴充套件：安裝 Python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02:25–02:45  整合終端機與 Git 基礎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02:45–03:00  實作：簽到靶機 API 練習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00:00–00:15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下載與安裝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官網下載對應版本（Windows .exe / macOS .zip）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強調：這是編輯器，不是瀏覽器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Windows 安裝時勾選「加入右鍵選單」「加入 PATH」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常見卡點：無系統管理員權限 → 使用者層級安裝版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10241280" cy="822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3D5A80"/>
                </a:solidFill>
                <a:latin typeface="Microsoft JhengHei"/>
              </a:rPr>
              <a:t>現場提示：全程跟做，不要用投影帶過——這一步最容易個別卡住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00:15–00:20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初次啟動一覽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語言暫時保持英文，介面認識與中文化留到後面模組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示範一次 Ctrl+Shift+P（Mac：Cmd+Shift+P）開啟命令面板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讓學員有印象即可，不深入教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00:20–00:30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「開啟資料夾」＝ VS Code 裡的專案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VS Code 沒有「新建專案」按鈕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File → Open Folder，選取「下載」資料夾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課程講義 PPT / 文件已預先透過課程網頁提供下載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左側 Explorer 顯示該資料夾內容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00:30–00:45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用 Office 擴充套件直接看 PPT /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Extensions 面板搜尋安裝 Office Viewer 類套件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點開課程講義 PPT，直接在分頁裡翻頁預覽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不需要另外開 PowerPoint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順便示範開啟一個 .docx 講義文件比對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10241280" cy="822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3D5A80"/>
                </a:solidFill>
                <a:latin typeface="Microsoft JhengHei"/>
              </a:rPr>
              <a:t>帶學員做：請每個人自己在下載資料夾裡找到今天的講義並點開看一次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00:40–00:45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建立、儲存檔案小練習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右鍵 Explorer 空白處 → New File，練習新建空白 .txt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存檔快捷鍵 Ctrl+S；分頁圓點代表尚未儲存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241280" cy="822960"/>
          </a:xfrm>
          <a:prstGeom prst="rect">
            <a:avLst/>
          </a:prstGeom>
          <a:solidFill>
            <a:srgbClr val="F6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C8863A"/>
                </a:solidFill>
                <a:latin typeface="Microsoft JhengHei"/>
              </a:rPr>
              <a:t>常見誤解：學員常以為要「存專案」，其實只存個別檔案，資料夾只是視窗顯示範圍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00:45–00:55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切換色彩主題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命令面板 → Preferences: Color Theme（方向鍵即時預覽）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命令面板 → Preferences: File Icon Theme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可額外安裝主題套件（如 One Dark Pro）擴充選擇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241280" cy="822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3D5A80"/>
                </a:solidFill>
                <a:latin typeface="Microsoft JhengHei"/>
              </a:rPr>
              <a:t>帶學員做：讓每個人選一個喜歡的主題，鼓勵現場分享畫面，順便複習命令面板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00:55–01:05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調整字型大小與字體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設定搜尋 font size 調整編輯字型大小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設定搜尋 font family 調整字體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示範放大字型對長時間閱讀程式碼的幫助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01:05–01:15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繁體中文化（可選）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介面已經玩過一輪、顏色也換好了，讓學員自行決定是否切換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命令面板輸入 Configure Display Language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安裝 Chinese (Traditional) Language Pack，重啟生效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241280" cy="822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3D5A80"/>
                </a:solidFill>
                <a:latin typeface="Microsoft JhengHei"/>
              </a:rPr>
              <a:t>不強制統一語言：投影示範用中文介面，學員機器保留英文也沒問題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01:15–01:25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介面五大分區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Activity Bar（左側最窄那排圖示）：切換功能面板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側邊欄：檔案總管、搜尋、原始碼控制、擴充套件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編輯區：真正打字的地方，可分割成多個分頁/窗格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狀態列（底部）：語言、編碼、游標位置、Git 分支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右上角工具列：分割編輯器、開啟終端機、切換版面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01:25–01:40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最上方選單列（File / Edit / View…）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跟命令面板是兩條通往同樣功能的路，更適合「用滑鼠慢慢找」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File：Open Folder、Save、Save 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View：開啟 Explorer、Terminal、Extensions 等面板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Run：之後執行 Python 爬蟲腳本時也能從這裡執行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10241280" cy="822960"/>
          </a:xfrm>
          <a:prstGeom prst="rect">
            <a:avLst/>
          </a:prstGeom>
          <a:solidFill>
            <a:srgbClr val="F6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C8863A"/>
                </a:solidFill>
                <a:latin typeface="Microsoft JhengHei"/>
              </a:rPr>
              <a:t>視窗變窄時選單列會摺疊成「⋯」（More Actions）圖示，收進 Terminal、Help 等選項——別以為選單不見了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80"/>
                </a:solidFill>
                <a:latin typeface="Microsoft JhengHei"/>
              </a:rPr>
              <a:t>☕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2E"/>
                </a:solidFill>
                <a:latin typeface="Microsoft JhengHei"/>
              </a:rPr>
              <a:t>休息 10 分鐘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Microsoft JhengHei"/>
              </a:rPr>
              <a:t>01:40 – 01:50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01:50–02:02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多游標與搜尋取代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Alt（Mac：Option）+ 點擊多處，同時打字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Ctrl+D 選取下一個相同字詞，連續按可多選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Ctrl+F 尋找、Ctrl+H 取代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Ctrl+Shift+F 跨整個專案搜尋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02:02–02:15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常用快捷鍵小抄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命令面板：Ctrl+Shift+P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快速切換檔案：Ctrl+P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開啟／收起終端機：Ctrl+`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複製整行：Shift+Alt+↓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單行註解：Ctrl+/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分割編輯器：Ctrl+\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格式化文件：Shift+Alt+F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02:15–02:25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擴充套件：安裝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主題、字型、中文包已在課程一開頭裝過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Activity Bar 中方塊圖示 → Extensions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安裝 Python（Microsoft 官方）：等下寫爬蟲要用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示範停用 / 解除安裝套件的差異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02:25–02:35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內建終端機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Ctrl+` 開啟整合終端機——在目前資料夾底下開的命令列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1024128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 b="0">
                <a:solidFill>
                  <a:srgbClr val="D4D4DC"/>
                </a:solidFill>
                <a:latin typeface="Consolas"/>
              </a:rPr>
              <a:t>python --version</a:t>
            </a:r>
          </a:p>
          <a:p>
            <a:r>
              <a:rPr sz="1400" b="0">
                <a:solidFill>
                  <a:srgbClr val="D4D4DC"/>
                </a:solidFill>
                <a:latin typeface="Consolas"/>
              </a:rPr>
              <a:t>cd Desktop/vscode-workshop</a:t>
            </a:r>
          </a:p>
          <a:p>
            <a:r>
              <a:rPr sz="1400" b="0">
                <a:solidFill>
                  <a:srgbClr val="D4D4DC"/>
                </a:solidFill>
                <a:latin typeface="Consolas"/>
              </a:rPr>
              <a:t>dir   # macOS 用 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80560"/>
            <a:ext cx="10241280" cy="822960"/>
          </a:xfrm>
          <a:prstGeom prst="rect">
            <a:avLst/>
          </a:prstGeom>
          <a:solidFill>
            <a:srgbClr val="F6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C8863A"/>
                </a:solidFill>
                <a:latin typeface="Microsoft JhengHei"/>
              </a:rPr>
              <a:t>常見卡點：Windows 上可能要打 py；macOS 上可能要打 python3。上課前務必實測學員機型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02:35–02:45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Git 基礎操作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終端機輸入 git init 初始化版本控制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編輯檔案後，左側「原始碼控制」圖示會顯示變更數量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訊息框輸入說明文字，Ctrl+Enter 完成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241280" cy="822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3D5A80"/>
                </a:solidFill>
                <a:latin typeface="Microsoft JhengHei"/>
              </a:rPr>
              <a:t>教學用意：不深入教 Git 指令，只讓學員知道「存檔的存檔」這個概念存在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授權說明 · 靶機練習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本練習使用講師自架的教學用簽到系統（靶機）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僅供本課程授權環境練習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情境：API 缺少授權驗證（Broken Authentication / Missing Access Control）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對應 OWASP API Security Top 10 — API2 類別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10241280" cy="822960"/>
          </a:xfrm>
          <a:prstGeom prst="rect">
            <a:avLst/>
          </a:prstGeom>
          <a:solidFill>
            <a:srgbClr val="F6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C8863A"/>
                </a:solidFill>
                <a:latin typeface="Microsoft JhengHei"/>
              </a:rPr>
              <a:t>請提醒學員：此手法僅可用於自己架設或明確授權的系統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02:45–02:50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觀察靶機：從 /docs 看到所有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介面上開放了 API 文件頁（如 FastAPI 的 /docs）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任何人都能看到完整端點清單與參數格式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呼叫時不需要任何登入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241280" cy="822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500" b="1">
                <a:solidFill>
                  <a:srgbClr val="3D5A80"/>
                </a:solidFill>
                <a:latin typeface="Microsoft JhengHei"/>
              </a:rPr>
              <a:t>帶學員做：打開靶機 /docs，用「Try it out」手動呼叫一次，確認不需登入就能成功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02:50–02:57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寫最小可行的 Python 呼叫腳本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新建 checkin.py，安裝 requests 套件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端點路徑、參數欄位請依實際靶機規格調整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24128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 b="0">
                <a:solidFill>
                  <a:srgbClr val="D4D4DC"/>
                </a:solidFill>
                <a:latin typeface="Consolas"/>
              </a:rPr>
              <a:t>import requests</a:t>
            </a:r>
          </a:p>
          <a:p>
            <a:r>
              <a:rPr sz="1400" b="0">
                <a:solidFill>
                  <a:srgbClr val="D4D4DC"/>
                </a:solidFill>
                <a:latin typeface="Consolas"/>
              </a:rPr>
              <a:t>BASE_URL = "http://靶機位址"</a:t>
            </a:r>
          </a:p>
          <a:p>
            <a:r>
              <a:rPr sz="1400" b="0">
                <a:solidFill>
                  <a:srgbClr val="D4D4DC"/>
                </a:solidFill>
                <a:latin typeface="Consolas"/>
              </a:rPr>
              <a:t/>
            </a:r>
          </a:p>
          <a:p>
            <a:r>
              <a:rPr sz="1400" b="0">
                <a:solidFill>
                  <a:srgbClr val="D4D4DC"/>
                </a:solidFill>
                <a:latin typeface="Consolas"/>
              </a:rPr>
              <a:t>def checkin(user_id):</a:t>
            </a:r>
          </a:p>
          <a:p>
            <a:r>
              <a:rPr sz="1400" b="0">
                <a:solidFill>
                  <a:srgbClr val="D4D4DC"/>
                </a:solidFill>
                <a:latin typeface="Consolas"/>
              </a:rPr>
              <a:t>    r = requests.post(f"{BASE_URL}/api/checkin", json={"user_id": user_id})</a:t>
            </a:r>
          </a:p>
          <a:p>
            <a:r>
              <a:rPr sz="1400" b="0">
                <a:solidFill>
                  <a:srgbClr val="D4D4DC"/>
                </a:solidFill>
                <a:latin typeface="Consolas"/>
              </a:rPr>
              <a:t>    print(r.status_code, r.json())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02:57–03:00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討論：這個漏洞為什麼危險？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沒有驗證使用者身分（token / session）→ 任何人可代簽他人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公開的 /docs 等於把「攻擊地圖」直接給了所有人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正確修法：每個請求驗證登入身分，且只能操作自己的紀錄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Microsoft JhengHei"/>
              </a:rPr>
              <a:t>課後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Microsoft JhengHei"/>
              </a:rPr>
              <a:t>自我檢查清單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能獨立安裝 VS Code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能開啟資料夾，並用 Office 擴充套件直接瀏覽 PPT / Word 文件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能切換喜歡的色彩主題與字型，依個人習慣決定是否切換為繁體中文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能講出五大介面分區與選單列的用途，並用命令面板找到任何功能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能使用多游標與搜尋取代加速編輯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能安裝擴充套件（Python）並開啟整合終端機執行基本指令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2E"/>
                </a:solidFill>
                <a:latin typeface="Microsoft JhengHei"/>
              </a:rPr>
              <a:t>•  理解「API 缺少授權驗證」為何是安全風險，並僅在授權環境中練習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