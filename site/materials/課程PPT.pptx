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9482d153_3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a9482d153_3_4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9482d153_3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a9482d153_3_4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9482d153_3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a9482d153_3_5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a9482d153_3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a9482d153_3_6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9482d153_3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a9482d153_3_69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9482d15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a9482d153_0_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9482d153_3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a9482d153_3_8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9482d153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a9482d153_0_3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9482d153_3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a9482d153_3_10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9482d153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a9482d153_0_1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9482d153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a9482d153_0_2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a9482d153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a9482d153_0_3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9482d153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a9482d153_0_5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9482d153_0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a9482d153_0_69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9482d153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a9482d153_0_7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9482d153_0_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a9482d153_0_8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a9482d153_0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a9482d153_0_9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a9482d153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a9482d153_0_10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a9482d153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a9482d153_0_4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a9482d153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a9482d153_0_5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9482d153_0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a9482d153_0_10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a9482d153_0_1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a9482d153_0_11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a9482d153_0_1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a9482d153_0_12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a9482d153_0_1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a9482d153_0_12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a9482d153_0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a9482d153_0_13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a9482d153_0_1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a9482d153_0_14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a9482d153_3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a9482d153_3_11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a9482d153_0_1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a9482d153_0_15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a9482d153_0_1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a9482d153_0_16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a9482d153_0_1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a9482d153_0_167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a9482d153_3_1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a9482d153_3_139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a9482d153_3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fa9482d153_3_14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9482d153_0_1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a9482d153_0_18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9482d153_0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a9482d153_0_21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a9482d153_0_1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a9482d153_0_19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a9482d153_0_1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a9482d153_0_197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a9482d153_0_2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a9482d153_0_20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a9482d153_3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a9482d153_3_163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a9482d153_3_1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a9482d153_3_18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a098110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faa0981108_0_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aa0981108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aa0981108_0_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aa0981108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faa0981108_0_2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a9482d153_3_1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a9482d153_3_18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9482d153_0_2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a9482d153_0_233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a9482d153_0_2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fa9482d153_0_24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a9482d153_0_2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a9482d153_0_249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a9482d153_0_2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fa9482d153_0_257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a9482d153_0_2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fa9482d153_0_277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a9482d153_0_2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fa9482d153_0_28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a9482d153_0_2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a9482d153_0_29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aa0981108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aa0981108_0_34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aa0981108_0_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faa0981108_0_5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aa0981108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aa0981108_0_60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aa0981108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faa0981108_0_68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aa0981108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faa0981108_0_76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aa0981108_0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faa0981108_0_8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a9482d153_3_2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fa9482d153_3_20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a9482d153_3_2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fa9482d153_3_24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a9482d153_0_3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fa9482d153_0_32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514886" y="1597819"/>
            <a:ext cx="583537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1029773" y="2914650"/>
            <a:ext cx="480560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43258" y="1200150"/>
            <a:ext cx="617863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542299" y="3305175"/>
            <a:ext cx="583537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542299" y="2180035"/>
            <a:ext cx="5835379" cy="1125141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43258" y="1200150"/>
            <a:ext cx="30321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1pPr>
            <a:lvl2pPr indent="-3619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2pPr>
            <a:lvl3pPr indent="-3619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3pPr>
            <a:lvl4pPr indent="-3619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»"/>
              <a:defRPr sz="2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43258" y="1151334"/>
            <a:ext cx="303330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3487401" y="1151334"/>
            <a:ext cx="303449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343258" y="204788"/>
            <a:ext cx="2258588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2684083" y="204788"/>
            <a:ext cx="383781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343257" y="1076325"/>
            <a:ext cx="225858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1345618" y="3600450"/>
            <a:ext cx="4119091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/>
          <p:nvPr>
            <p:ph idx="2" type="pic"/>
          </p:nvPr>
        </p:nvSpPr>
        <p:spPr>
          <a:xfrm>
            <a:off x="1345618" y="459581"/>
            <a:ext cx="4119091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1345618" y="4025503"/>
            <a:ext cx="4119091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69056"/>
            <a:ext cx="8229600" cy="113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3"/>
          <p:cNvSpPr txBox="1"/>
          <p:nvPr/>
        </p:nvSpPr>
        <p:spPr>
          <a:xfrm>
            <a:off x="559479" y="437075"/>
            <a:ext cx="52482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000"/>
              <a:buFont typeface="Microsoft JhengHei"/>
              <a:buNone/>
            </a:pPr>
            <a:r>
              <a:rPr b="1" i="0" lang="zh-TW" sz="30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微軟大戰程式碼 從入門到入侵     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</a:t>
            </a: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icrosoft 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VS Code</a:t>
            </a: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1100"/>
          </a:p>
        </p:txBody>
      </p:sp>
      <p:sp>
        <p:nvSpPr>
          <p:cNvPr id="96" name="Google Shape;96;p23"/>
          <p:cNvSpPr txBox="1"/>
          <p:nvPr/>
        </p:nvSpPr>
        <p:spPr>
          <a:xfrm>
            <a:off x="626812" y="2340788"/>
            <a:ext cx="6203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從零安裝到能寫、能跑、能用終端機與 Git 的基本</a:t>
            </a: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方式</a:t>
            </a:r>
            <a:endParaRPr sz="1800">
              <a:solidFill>
                <a:srgbClr val="6B728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Microsoft JhengHei"/>
              <a:buNone/>
            </a:pPr>
            <a:r>
              <a:rPr lang="zh-TW" sz="18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面向客群：有電腦操作能力，未用 VS Code 寫過程式</a:t>
            </a:r>
            <a:endParaRPr sz="1100"/>
          </a:p>
        </p:txBody>
      </p:sp>
      <p:pic>
        <p:nvPicPr>
          <p:cNvPr descr="clipart1143950.png"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589" y="2725463"/>
            <a:ext cx="1383630" cy="1379536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40000" kx="0" rotWithShape="0" algn="bl" stA="5000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4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今天的路線圖</a:t>
            </a:r>
            <a:endParaRPr sz="1100"/>
          </a:p>
        </p:txBody>
      </p:sp>
      <p:sp>
        <p:nvSpPr>
          <p:cNvPr id="104" name="Google Shape;104;p24"/>
          <p:cNvSpPr txBox="1"/>
          <p:nvPr/>
        </p:nvSpPr>
        <p:spPr>
          <a:xfrm>
            <a:off x="652189" y="1303020"/>
            <a:ext cx="76203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安裝與初次啟動（下載、安裝、第一次打開）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VS Code 是什麼？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開啟資料夾＝專案，瀏覽自己的檔案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在 VS Code 裡打開 txt / PPT 文件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個性化：換主題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建立與儲存檔案、開啟 Auto Save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繁體中文化（可選）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介面五大分區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休息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 Python 擴充套件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實作：用 AI 做一個終端機小遊戲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Git 基礎：存檔的存檔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實作：簽到靶機 API 練習（授權環境）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課後自我檢查、如何用 AI 做開發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t/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5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11" name="Google Shape;111;p25"/>
          <p:cNvSpPr txBox="1"/>
          <p:nvPr/>
        </p:nvSpPr>
        <p:spPr>
          <a:xfrm>
            <a:off x="652189" y="1303020"/>
            <a:ext cx="7620319" cy="3448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b="0" i="0" lang="zh-TW" sz="16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官網下載對應版本（Windows .exe / macOS .zip)</a:t>
            </a:r>
            <a:endParaRPr sz="1100"/>
          </a:p>
        </p:txBody>
      </p:sp>
      <p:pic>
        <p:nvPicPr>
          <p:cNvPr descr="貼上的影片.png" id="112" name="Google Shape;1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659" y="1732343"/>
            <a:ext cx="9134476" cy="2955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19" name="Google Shape;119;p26"/>
          <p:cNvSpPr txBox="1"/>
          <p:nvPr/>
        </p:nvSpPr>
        <p:spPr>
          <a:xfrm>
            <a:off x="652189" y="1303020"/>
            <a:ext cx="7620319" cy="3448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600"/>
              <a:buFont typeface="Microsoft JhengHei"/>
              <a:buChar char="•"/>
            </a:pPr>
            <a:r>
              <a:rPr b="0" i="0" lang="zh-TW" sz="16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官網下載對應版本（Windows .exe / macOS .zip)</a:t>
            </a:r>
            <a:endParaRPr sz="1100"/>
          </a:p>
        </p:txBody>
      </p:sp>
      <p:pic>
        <p:nvPicPr>
          <p:cNvPr descr="貼上的影片.png" id="120" name="Google Shape;1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806" y="1637999"/>
            <a:ext cx="7612381" cy="3350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下載與安裝</a:t>
            </a:r>
            <a:endParaRPr sz="1100"/>
          </a:p>
        </p:txBody>
      </p:sp>
      <p:sp>
        <p:nvSpPr>
          <p:cNvPr id="127" name="Google Shape;127;p27"/>
          <p:cNvSpPr txBox="1"/>
          <p:nvPr/>
        </p:nvSpPr>
        <p:spPr>
          <a:xfrm>
            <a:off x="652189" y="1303020"/>
            <a:ext cx="7620319" cy="306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Windows 安裝時勾選「加入 PATH」</a:t>
            </a:r>
            <a:endParaRPr sz="1100"/>
          </a:p>
        </p:txBody>
      </p:sp>
      <p:pic>
        <p:nvPicPr>
          <p:cNvPr descr="貼上的影片.png" id="128" name="Google Shape;1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4876" y="1633617"/>
            <a:ext cx="3928736" cy="321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VScode？</a:t>
            </a:r>
            <a:endParaRPr sz="1100"/>
          </a:p>
        </p:txBody>
      </p:sp>
      <p:pic>
        <p:nvPicPr>
          <p:cNvPr descr="貼上的影片.png" id="135" name="Google Shape;1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05" y="1008085"/>
            <a:ext cx="7293870" cy="3829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VScode？</a:t>
            </a:r>
            <a:endParaRPr sz="1100"/>
          </a:p>
        </p:txBody>
      </p:sp>
      <p:pic>
        <p:nvPicPr>
          <p:cNvPr descr="貼上的影片.png" id="142" name="Google Shape;1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05" y="1008085"/>
            <a:ext cx="7293870" cy="382928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9"/>
          <p:cNvSpPr/>
          <p:nvPr/>
        </p:nvSpPr>
        <p:spPr>
          <a:xfrm>
            <a:off x="1863895" y="2721749"/>
            <a:ext cx="959888" cy="401956"/>
          </a:xfrm>
          <a:prstGeom prst="roundRect">
            <a:avLst>
              <a:gd fmla="val 38029" name="adj"/>
            </a:avLst>
          </a:prstGeom>
          <a:solidFill>
            <a:srgbClr val="FFFFFF">
              <a:alpha val="0"/>
            </a:srgbClr>
          </a:solidFill>
          <a:ln cap="flat" cmpd="sng" w="88900">
            <a:solidFill>
              <a:srgbClr val="F60B00"/>
            </a:solidFill>
            <a:prstDash val="solid"/>
            <a:miter lim="4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初次啟動一覽</a:t>
            </a:r>
            <a:endParaRPr sz="1100"/>
          </a:p>
        </p:txBody>
      </p:sp>
      <p:pic>
        <p:nvPicPr>
          <p:cNvPr id="150" name="Google Shape;1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998" y="1028086"/>
            <a:ext cx="5979693" cy="378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「開啟資料夾」＝ VS Code 裡的專案</a:t>
            </a:r>
            <a:endParaRPr sz="1100"/>
          </a:p>
        </p:txBody>
      </p:sp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748" y="1396561"/>
            <a:ext cx="619125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1"/>
          <p:cNvSpPr/>
          <p:nvPr/>
        </p:nvSpPr>
        <p:spPr>
          <a:xfrm rot="-1519316">
            <a:off x="2793484" y="1559433"/>
            <a:ext cx="742102" cy="1127508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「開啟資料夾」＝ VS Code 裡的專案</a:t>
            </a:r>
            <a:endParaRPr sz="1100"/>
          </a:p>
        </p:txBody>
      </p:sp>
      <p:pic>
        <p:nvPicPr>
          <p:cNvPr id="165" name="Google Shape;1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960" y="1062455"/>
            <a:ext cx="3045806" cy="383247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2"/>
          <p:cNvSpPr/>
          <p:nvPr/>
        </p:nvSpPr>
        <p:spPr>
          <a:xfrm rot="-5400000">
            <a:off x="4226640" y="1709799"/>
            <a:ext cx="742200" cy="1127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「開啟資料夾」＝ VS Code 裡的專案</a:t>
            </a:r>
            <a:endParaRPr sz="1100"/>
          </a:p>
        </p:txBody>
      </p:sp>
      <p:pic>
        <p:nvPicPr>
          <p:cNvPr id="173" name="Google Shape;1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974" y="1091330"/>
            <a:ext cx="6813281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「開啟資料夾」＝ VS Code 裡的專案</a:t>
            </a:r>
            <a:endParaRPr sz="1100"/>
          </a:p>
        </p:txBody>
      </p:sp>
      <p:pic>
        <p:nvPicPr>
          <p:cNvPr id="180" name="Google Shape;180;p34"/>
          <p:cNvPicPr preferRelativeResize="0"/>
          <p:nvPr/>
        </p:nvPicPr>
        <p:blipFill rotWithShape="1">
          <a:blip r:embed="rId3">
            <a:alphaModFix/>
          </a:blip>
          <a:srcRect b="45055" l="0" r="79636" t="0"/>
          <a:stretch/>
        </p:blipFill>
        <p:spPr>
          <a:xfrm>
            <a:off x="3083600" y="1105750"/>
            <a:ext cx="2531625" cy="384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5"/>
          <p:cNvSpPr txBox="1"/>
          <p:nvPr/>
        </p:nvSpPr>
        <p:spPr>
          <a:xfrm>
            <a:off x="1472928" y="1957875"/>
            <a:ext cx="6575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誒! 為啥你的這麼紅????</a:t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如何個性化自己的VScode</a:t>
            </a:r>
            <a:endParaRPr sz="1100"/>
          </a:p>
        </p:txBody>
      </p:sp>
      <p:pic>
        <p:nvPicPr>
          <p:cNvPr id="193" name="Google Shape;1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649" y="1317280"/>
            <a:ext cx="75342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/>
          <p:nvPr/>
        </p:nvSpPr>
        <p:spPr>
          <a:xfrm>
            <a:off x="6495025" y="3600875"/>
            <a:ext cx="1576800" cy="249900"/>
          </a:xfrm>
          <a:prstGeom prst="rect">
            <a:avLst/>
          </a:prstGeom>
          <a:noFill/>
          <a:ln cap="flat" cmpd="sng" w="762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如何個性化自己的VScode</a:t>
            </a:r>
            <a:endParaRPr sz="1100"/>
          </a:p>
        </p:txBody>
      </p:sp>
      <p:pic>
        <p:nvPicPr>
          <p:cNvPr id="201" name="Google Shape;20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899" y="1182655"/>
            <a:ext cx="6416752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如何個性化自己的VScode</a:t>
            </a:r>
            <a:endParaRPr sz="1100"/>
          </a:p>
        </p:txBody>
      </p:sp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587" y="123550"/>
            <a:ext cx="423457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8"/>
          <p:cNvSpPr/>
          <p:nvPr/>
        </p:nvSpPr>
        <p:spPr>
          <a:xfrm rot="-5400000">
            <a:off x="4967090" y="2326099"/>
            <a:ext cx="742200" cy="1127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9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如何個性化自己的VScode</a:t>
            </a:r>
            <a:endParaRPr sz="1100"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824" y="1110555"/>
            <a:ext cx="2829535" cy="383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0"/>
          <p:cNvSpPr txBox="1"/>
          <p:nvPr/>
        </p:nvSpPr>
        <p:spPr>
          <a:xfrm>
            <a:off x="3977650" y="2360100"/>
            <a:ext cx="2123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如何瀏覽檔案？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打開“練習.txt”</a:t>
            </a:r>
            <a:endParaRPr sz="1100"/>
          </a:p>
        </p:txBody>
      </p:sp>
      <p:pic>
        <p:nvPicPr>
          <p:cNvPr id="229" name="Google Shape;2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824" y="1149005"/>
            <a:ext cx="6813281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打開“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上課用ppt.pptx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</a:t>
            </a:r>
            <a:endParaRPr sz="1100"/>
          </a:p>
        </p:txBody>
      </p:sp>
      <p:pic>
        <p:nvPicPr>
          <p:cNvPr id="236" name="Google Shape;23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774" y="1048055"/>
            <a:ext cx="6813281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1472928" y="1957875"/>
            <a:ext cx="6575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誒! 為啥</a:t>
            </a: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我的ppt打不開</a:t>
            </a:r>
            <a:endParaRPr sz="3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如何在vscode裡面開啟文件</a:t>
            </a:r>
            <a:endParaRPr sz="1100"/>
          </a:p>
        </p:txBody>
      </p:sp>
      <p:pic>
        <p:nvPicPr>
          <p:cNvPr id="249" name="Google Shape;24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587" y="123550"/>
            <a:ext cx="423457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4"/>
          <p:cNvSpPr/>
          <p:nvPr/>
        </p:nvSpPr>
        <p:spPr>
          <a:xfrm rot="-5400000">
            <a:off x="4967090" y="2326099"/>
            <a:ext cx="742200" cy="1127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如何在vscode裡面開啟文件</a:t>
            </a:r>
            <a:endParaRPr sz="1100"/>
          </a:p>
        </p:txBody>
      </p:sp>
      <p:pic>
        <p:nvPicPr>
          <p:cNvPr id="257" name="Google Shape;25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824" y="1110555"/>
            <a:ext cx="2829535" cy="383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如何在vscode裡面開啟文件</a:t>
            </a:r>
            <a:endParaRPr sz="1100"/>
          </a:p>
        </p:txBody>
      </p:sp>
      <p:pic>
        <p:nvPicPr>
          <p:cNvPr id="264" name="Google Shape;26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624" y="1471105"/>
            <a:ext cx="49911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如何在vscode裡面開啟文件</a:t>
            </a:r>
            <a:endParaRPr sz="1100"/>
          </a:p>
        </p:txBody>
      </p:sp>
      <p:pic>
        <p:nvPicPr>
          <p:cNvPr id="271" name="Google Shape;27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549" y="1038430"/>
            <a:ext cx="6668385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打開“上課用ppt.pptx”</a:t>
            </a:r>
            <a:endParaRPr sz="1100"/>
          </a:p>
        </p:txBody>
      </p:sp>
      <p:pic>
        <p:nvPicPr>
          <p:cNvPr id="278" name="Google Shape;27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774" y="1048055"/>
            <a:ext cx="6813281" cy="3832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9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建立、儲存檔案小練習</a:t>
            </a:r>
            <a:endParaRPr sz="1100"/>
          </a:p>
        </p:txBody>
      </p:sp>
      <p:sp>
        <p:nvSpPr>
          <p:cNvPr id="285" name="Google Shape;285;p49"/>
          <p:cNvSpPr txBox="1"/>
          <p:nvPr/>
        </p:nvSpPr>
        <p:spPr>
          <a:xfrm>
            <a:off x="363714" y="124532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右鍵 Explorer 空白處 → New File，練習新建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“練習</a:t>
            </a: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.txt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</a:t>
            </a:r>
            <a:endParaRPr sz="1100"/>
          </a:p>
        </p:txBody>
      </p:sp>
      <p:pic>
        <p:nvPicPr>
          <p:cNvPr id="286" name="Google Shape;28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905" y="0"/>
            <a:ext cx="273909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建立、儲存檔案小練習</a:t>
            </a:r>
            <a:endParaRPr sz="1100"/>
          </a:p>
        </p:txBody>
      </p:sp>
      <p:sp>
        <p:nvSpPr>
          <p:cNvPr id="293" name="Google Shape;293;p50"/>
          <p:cNvSpPr txBox="1"/>
          <p:nvPr/>
        </p:nvSpPr>
        <p:spPr>
          <a:xfrm>
            <a:off x="363714" y="124532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存檔快捷鍵 Ctrl+S；分頁圓點代表尚未儲存</a:t>
            </a:r>
            <a:endParaRPr sz="1100"/>
          </a:p>
        </p:txBody>
      </p:sp>
      <p:pic>
        <p:nvPicPr>
          <p:cNvPr id="294" name="Google Shape;2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474" y="2191995"/>
            <a:ext cx="44767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74" y="2062183"/>
            <a:ext cx="4039826" cy="2155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1"/>
          <p:cNvSpPr txBox="1"/>
          <p:nvPr/>
        </p:nvSpPr>
        <p:spPr>
          <a:xfrm>
            <a:off x="1472928" y="1957875"/>
            <a:ext cx="6575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4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好煩 不想一直按儲存!!!!!!</a:t>
            </a:r>
            <a:endParaRPr sz="3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建立、儲存檔案小練習</a:t>
            </a:r>
            <a:endParaRPr sz="1100"/>
          </a:p>
        </p:txBody>
      </p:sp>
      <p:sp>
        <p:nvSpPr>
          <p:cNvPr id="308" name="Google Shape;308;p52"/>
          <p:cNvSpPr txBox="1"/>
          <p:nvPr/>
        </p:nvSpPr>
        <p:spPr>
          <a:xfrm>
            <a:off x="411789" y="2403945"/>
            <a:ext cx="7620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 sz="21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 sz="21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將Auto Save打開 一勞永逸</a:t>
            </a:r>
            <a:endParaRPr sz="1800"/>
          </a:p>
        </p:txBody>
      </p:sp>
      <p:pic>
        <p:nvPicPr>
          <p:cNvPr id="309" name="Google Shape;30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080" y="0"/>
            <a:ext cx="28641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3"/>
          <p:cNvSpPr txBox="1"/>
          <p:nvPr/>
        </p:nvSpPr>
        <p:spPr>
          <a:xfrm>
            <a:off x="573912" y="11658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繁體中文化（可選）</a:t>
            </a:r>
            <a:endParaRPr sz="1100"/>
          </a:p>
        </p:txBody>
      </p:sp>
      <p:sp>
        <p:nvSpPr>
          <p:cNvPr id="316" name="Google Shape;316;p53"/>
          <p:cNvSpPr txBox="1"/>
          <p:nvPr/>
        </p:nvSpPr>
        <p:spPr>
          <a:xfrm>
            <a:off x="618589" y="539870"/>
            <a:ext cx="7620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命令面板輸入 Configure Display Language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（Ctrl+Shift+P / Cmd+Shift+P)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安裝 Chinese (Traditional) Language Pack，重啟生效</a:t>
            </a:r>
            <a:endParaRPr sz="1100"/>
          </a:p>
        </p:txBody>
      </p:sp>
      <p:pic>
        <p:nvPicPr>
          <p:cNvPr id="317" name="Google Shape;31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200" y="1263050"/>
            <a:ext cx="5767150" cy="20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950" y="2125650"/>
            <a:ext cx="5128876" cy="301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4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25" name="Google Shape;325;p54"/>
          <p:cNvSpPr txBox="1"/>
          <p:nvPr/>
        </p:nvSpPr>
        <p:spPr>
          <a:xfrm>
            <a:off x="652189" y="1303020"/>
            <a:ext cx="7620319" cy="16402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Activity Bar（左側最窄那排圖示）：切換功能面板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側邊欄：檔案總管、搜尋、原始碼控制、擴充套件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編輯區：真正打字的地方，可分割成多個分頁/窗格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狀態列（底部）：語言、編碼、游標位置、Git 分支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右上角工具列：分割編輯器、開啟終端機、切換版面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32" name="Google Shape;332;p55"/>
          <p:cNvSpPr txBox="1"/>
          <p:nvPr/>
        </p:nvSpPr>
        <p:spPr>
          <a:xfrm>
            <a:off x="2493489" y="678045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Activity Bar（左側最窄那排圖示）：切換功能面板</a:t>
            </a:r>
            <a:endParaRPr sz="1500"/>
          </a:p>
        </p:txBody>
      </p:sp>
      <p:pic>
        <p:nvPicPr>
          <p:cNvPr id="333" name="Google Shape;33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976" y="1082720"/>
            <a:ext cx="357200" cy="408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40" name="Google Shape;340;p56"/>
          <p:cNvSpPr txBox="1"/>
          <p:nvPr/>
        </p:nvSpPr>
        <p:spPr>
          <a:xfrm>
            <a:off x="2493489" y="678045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 sz="18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側邊欄：檔案總管、搜尋、原始碼控制、擴充套件</a:t>
            </a:r>
            <a:endParaRPr sz="1800"/>
          </a:p>
        </p:txBody>
      </p:sp>
      <p:pic>
        <p:nvPicPr>
          <p:cNvPr id="341" name="Google Shape;34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074" y="1160795"/>
            <a:ext cx="2461812" cy="381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936" y="1136770"/>
            <a:ext cx="2215508" cy="3814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7894" y="1114145"/>
            <a:ext cx="2026774" cy="3814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50" name="Google Shape;350;p57"/>
          <p:cNvSpPr txBox="1"/>
          <p:nvPr/>
        </p:nvSpPr>
        <p:spPr>
          <a:xfrm>
            <a:off x="2474264" y="673220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編輯區：真正打字的地方，可分割成多個分頁/窗格</a:t>
            </a:r>
            <a:endParaRPr sz="1800"/>
          </a:p>
        </p:txBody>
      </p:sp>
      <p:pic>
        <p:nvPicPr>
          <p:cNvPr id="351" name="Google Shape;35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099" y="1210270"/>
            <a:ext cx="5529237" cy="381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58" name="Google Shape;358;p58"/>
          <p:cNvSpPr txBox="1"/>
          <p:nvPr/>
        </p:nvSpPr>
        <p:spPr>
          <a:xfrm>
            <a:off x="2411764" y="721520"/>
            <a:ext cx="762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8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狀態列（底部）：語言、編碼、游標位置、Git 分支</a:t>
            </a:r>
            <a:endParaRPr sz="1800"/>
          </a:p>
        </p:txBody>
      </p:sp>
      <p:pic>
        <p:nvPicPr>
          <p:cNvPr id="359" name="Google Shape;359;p58"/>
          <p:cNvPicPr preferRelativeResize="0"/>
          <p:nvPr/>
        </p:nvPicPr>
        <p:blipFill rotWithShape="1">
          <a:blip r:embed="rId3">
            <a:alphaModFix/>
          </a:blip>
          <a:srcRect b="-54527" l="0" r="80073" t="15"/>
          <a:stretch/>
        </p:blipFill>
        <p:spPr>
          <a:xfrm>
            <a:off x="418275" y="2543624"/>
            <a:ext cx="5240223" cy="6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8"/>
          <p:cNvPicPr preferRelativeResize="0"/>
          <p:nvPr/>
        </p:nvPicPr>
        <p:blipFill rotWithShape="1">
          <a:blip r:embed="rId3">
            <a:alphaModFix/>
          </a:blip>
          <a:srcRect b="-15845" l="74632" r="-658" t="-18437"/>
          <a:stretch/>
        </p:blipFill>
        <p:spPr>
          <a:xfrm>
            <a:off x="4491475" y="3571950"/>
            <a:ext cx="4652524" cy="3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9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介面五大分區</a:t>
            </a:r>
            <a:endParaRPr sz="1100"/>
          </a:p>
        </p:txBody>
      </p:sp>
      <p:sp>
        <p:nvSpPr>
          <p:cNvPr id="367" name="Google Shape;367;p59"/>
          <p:cNvSpPr txBox="1"/>
          <p:nvPr/>
        </p:nvSpPr>
        <p:spPr>
          <a:xfrm>
            <a:off x="2392539" y="652220"/>
            <a:ext cx="762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右上角工具列：分割編輯器、開啟終端機、切換版面</a:t>
            </a:r>
            <a:endParaRPr sz="1100"/>
          </a:p>
        </p:txBody>
      </p:sp>
      <p:pic>
        <p:nvPicPr>
          <p:cNvPr id="368" name="Google Shape;36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101" y="1711279"/>
            <a:ext cx="5853325" cy="25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0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0"/>
          <p:cNvSpPr txBox="1"/>
          <p:nvPr/>
        </p:nvSpPr>
        <p:spPr>
          <a:xfrm>
            <a:off x="583537" y="421005"/>
            <a:ext cx="7483016" cy="2876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Microsoft JhengHei"/>
              <a:buNone/>
            </a:pPr>
            <a:r>
              <a:rPr b="1" i="0" lang="zh-TW" sz="11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☕ BREAK</a:t>
            </a:r>
            <a:endParaRPr sz="1100"/>
          </a:p>
        </p:txBody>
      </p:sp>
      <p:sp>
        <p:nvSpPr>
          <p:cNvPr id="375" name="Google Shape;375;p60"/>
          <p:cNvSpPr txBox="1"/>
          <p:nvPr/>
        </p:nvSpPr>
        <p:spPr>
          <a:xfrm>
            <a:off x="583537" y="754379"/>
            <a:ext cx="7826273" cy="601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000"/>
              <a:buFont typeface="Microsoft JhengHei"/>
              <a:buNone/>
            </a:pPr>
            <a:r>
              <a:rPr b="1" i="0" lang="zh-TW" sz="30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休息 10 分鐘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1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擴充套件：安裝 Python</a:t>
            </a:r>
            <a:endParaRPr sz="1100"/>
          </a:p>
        </p:txBody>
      </p:sp>
      <p:sp>
        <p:nvSpPr>
          <p:cNvPr id="382" name="Google Shape;382;p61"/>
          <p:cNvSpPr txBox="1"/>
          <p:nvPr/>
        </p:nvSpPr>
        <p:spPr>
          <a:xfrm>
            <a:off x="652189" y="1303020"/>
            <a:ext cx="7620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Activity Bar 中方塊圖示 → Extensions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</a:t>
            </a: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 Python（Microsoft 官方）：等下做小遊戲要用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83" name="Google Shape;3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548" y="1906020"/>
            <a:ext cx="7331702" cy="2932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終端機(Terminal)?</a:t>
            </a:r>
            <a:endParaRPr sz="1100"/>
          </a:p>
        </p:txBody>
      </p:sp>
      <p:pic>
        <p:nvPicPr>
          <p:cNvPr id="390" name="Google Shape;39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600" y="100250"/>
            <a:ext cx="5005575" cy="494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終端機(Terminal)?</a:t>
            </a:r>
            <a:endParaRPr sz="1100"/>
          </a:p>
        </p:txBody>
      </p:sp>
      <p:pic>
        <p:nvPicPr>
          <p:cNvPr id="397" name="Google Shape;39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025" y="350574"/>
            <a:ext cx="4778326" cy="44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 Python 是否安裝成功</a:t>
            </a:r>
            <a:endParaRPr sz="1100"/>
          </a:p>
        </p:txBody>
      </p:sp>
      <p:pic>
        <p:nvPicPr>
          <p:cNvPr id="404" name="Google Shape;40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274" y="1607555"/>
            <a:ext cx="56769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5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11" name="Google Shape;411;p65"/>
          <p:cNvSpPr txBox="1"/>
          <p:nvPr/>
        </p:nvSpPr>
        <p:spPr>
          <a:xfrm>
            <a:off x="720839" y="2348865"/>
            <a:ext cx="7551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請詢問ai “請幫我寫一個國小數學的問答挑戰python檔 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可以在終端機畫面做答題“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18" name="Google Shape;418;p66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19" name="Google Shape;4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624" y="2125202"/>
            <a:ext cx="525780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66"/>
          <p:cNvSpPr txBox="1"/>
          <p:nvPr/>
        </p:nvSpPr>
        <p:spPr>
          <a:xfrm>
            <a:off x="850714" y="12815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創建檔案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27" name="Google Shape;427;p67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28" name="Google Shape;42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099" y="1460140"/>
            <a:ext cx="5482698" cy="2112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6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35" name="Google Shape;435;p68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36" name="Google Shape;43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276" y="449437"/>
            <a:ext cx="3714299" cy="459572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8"/>
          <p:cNvSpPr txBox="1"/>
          <p:nvPr/>
        </p:nvSpPr>
        <p:spPr>
          <a:xfrm>
            <a:off x="432444" y="2464225"/>
            <a:ext cx="311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找到ai給出的答案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9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69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44" name="Google Shape;444;p69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45" name="Google Shape;44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151" y="445736"/>
            <a:ext cx="3594125" cy="436662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9"/>
          <p:cNvSpPr txBox="1"/>
          <p:nvPr/>
        </p:nvSpPr>
        <p:spPr>
          <a:xfrm>
            <a:off x="432444" y="2464225"/>
            <a:ext cx="3110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貼上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0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53" name="Google Shape;453;p70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54" name="Google Shape;454;p70"/>
          <p:cNvSpPr txBox="1"/>
          <p:nvPr/>
        </p:nvSpPr>
        <p:spPr>
          <a:xfrm>
            <a:off x="432452" y="2464225"/>
            <a:ext cx="399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按下三角形完成執行python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5" name="Google Shape;45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874" y="2315850"/>
            <a:ext cx="295275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7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62" name="Google Shape;462;p71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63" name="Google Shape;463;p71"/>
          <p:cNvSpPr txBox="1"/>
          <p:nvPr/>
        </p:nvSpPr>
        <p:spPr>
          <a:xfrm>
            <a:off x="1966301" y="2412025"/>
            <a:ext cx="116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快樂答題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4" name="Google Shape;464;p71"/>
          <p:cNvPicPr preferRelativeResize="0"/>
          <p:nvPr/>
        </p:nvPicPr>
        <p:blipFill rotWithShape="1">
          <a:blip r:embed="rId3">
            <a:alphaModFix/>
          </a:blip>
          <a:srcRect b="0" l="0" r="59358" t="0"/>
          <a:stretch/>
        </p:blipFill>
        <p:spPr>
          <a:xfrm>
            <a:off x="4874875" y="1963400"/>
            <a:ext cx="3716252" cy="11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2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2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製作簡單的小遊戲</a:t>
            </a:r>
            <a:endParaRPr sz="1100"/>
          </a:p>
        </p:txBody>
      </p:sp>
      <p:sp>
        <p:nvSpPr>
          <p:cNvPr id="471" name="Google Shape;471;p72"/>
          <p:cNvSpPr txBox="1"/>
          <p:nvPr/>
        </p:nvSpPr>
        <p:spPr>
          <a:xfrm>
            <a:off x="720839" y="2348865"/>
            <a:ext cx="755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72" name="Google Shape;472;p72"/>
          <p:cNvSpPr txBox="1"/>
          <p:nvPr/>
        </p:nvSpPr>
        <p:spPr>
          <a:xfrm>
            <a:off x="942175" y="2185825"/>
            <a:ext cx="28461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如果要暫停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點擊終端機 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按下Ctrl + C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3" name="Google Shape;47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025" y="2007645"/>
            <a:ext cx="5485525" cy="18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3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3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480" name="Google Shape;480;p73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打開資料夾中的”card-template.html”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81" name="Google Shape;48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49" y="1647750"/>
            <a:ext cx="7980290" cy="319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4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74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488" name="Google Shape;488;p74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右鍵選擇”Copy Path”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89" name="Google Shape;48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799" y="1554563"/>
            <a:ext cx="3757389" cy="3323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5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75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496" name="Google Shape;496;p75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貼上到Chrom瀏覽器的網址列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97" name="Google Shape;4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824" y="3042038"/>
            <a:ext cx="71913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6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76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04" name="Google Shape;504;p76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個人小卡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05" name="Google Shape;50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246" y="1006230"/>
            <a:ext cx="3262853" cy="383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7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77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12" name="Google Shape;512;p77"/>
          <p:cNvSpPr txBox="1"/>
          <p:nvPr/>
        </p:nvSpPr>
        <p:spPr>
          <a:xfrm>
            <a:off x="803996" y="1138438"/>
            <a:ext cx="46299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自我介紹、身分、Email、城市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直接打字修改，Ctrl+S 存檔(如果有開Auto Save就不用按存檔)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切回瀏覽器按 F5 重新整理。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13" name="Google Shape;51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200" y="720275"/>
            <a:ext cx="3267275" cy="38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8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78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製作個人網頁</a:t>
            </a:r>
            <a:endParaRPr sz="1100"/>
          </a:p>
        </p:txBody>
      </p:sp>
      <p:sp>
        <p:nvSpPr>
          <p:cNvPr id="520" name="Google Shape;520;p78"/>
          <p:cNvSpPr txBox="1"/>
          <p:nvPr/>
        </p:nvSpPr>
        <p:spPr>
          <a:xfrm>
            <a:off x="803996" y="1138438"/>
            <a:ext cx="46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C"/>
              </a:buClr>
              <a:buSzPts val="1100"/>
              <a:buFont typeface="Consolas"/>
              <a:buNone/>
            </a:pPr>
            <a:r>
              <a:rPr lang="zh-TW" sz="2000">
                <a:solidFill>
                  <a:schemeClr val="dk1"/>
                </a:solidFill>
              </a:rPr>
              <a:t>開始製作個人網頁吧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21" name="Google Shape;52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200" y="720275"/>
            <a:ext cx="3267275" cy="38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1875" y="720283"/>
            <a:ext cx="3341425" cy="39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9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79"/>
          <p:cNvSpPr txBox="1"/>
          <p:nvPr/>
        </p:nvSpPr>
        <p:spPr>
          <a:xfrm>
            <a:off x="583537" y="582930"/>
            <a:ext cx="7826273" cy="4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 基礎操作</a:t>
            </a:r>
            <a:endParaRPr sz="1100"/>
          </a:p>
        </p:txBody>
      </p:sp>
      <p:sp>
        <p:nvSpPr>
          <p:cNvPr id="529" name="Google Shape;529;p79"/>
          <p:cNvSpPr txBox="1"/>
          <p:nvPr/>
        </p:nvSpPr>
        <p:spPr>
          <a:xfrm>
            <a:off x="652189" y="1303020"/>
            <a:ext cx="76203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終端機輸入 git init 初始化版本控制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訊息框輸入說明文字，Ctrl+Enter 完成 commit</a:t>
            </a:r>
            <a:endParaRPr sz="1100"/>
          </a:p>
        </p:txBody>
      </p:sp>
      <p:pic>
        <p:nvPicPr>
          <p:cNvPr id="530" name="Google Shape;53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648" y="1991120"/>
            <a:ext cx="5857029" cy="293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0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0"/>
          <p:cNvSpPr txBox="1"/>
          <p:nvPr/>
        </p:nvSpPr>
        <p:spPr>
          <a:xfrm>
            <a:off x="583537" y="308610"/>
            <a:ext cx="7482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537" name="Google Shape;537;p80"/>
          <p:cNvSpPr txBox="1"/>
          <p:nvPr/>
        </p:nvSpPr>
        <p:spPr>
          <a:xfrm>
            <a:off x="583537" y="582930"/>
            <a:ext cx="78264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i="0" lang="zh-TW" sz="2300" u="none" cap="none" strike="noStrike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自我檢查清單</a:t>
            </a:r>
            <a:endParaRPr sz="1100"/>
          </a:p>
        </p:txBody>
      </p:sp>
      <p:sp>
        <p:nvSpPr>
          <p:cNvPr id="538" name="Google Shape;538;p80"/>
          <p:cNvSpPr txBox="1"/>
          <p:nvPr/>
        </p:nvSpPr>
        <p:spPr>
          <a:xfrm>
            <a:off x="652189" y="1303020"/>
            <a:ext cx="76203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能獨立安裝 VS Code，並完成第一次啟動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能開啟資料夾當專案，用擴充套件直接瀏覽 txt / PPT 文件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能切換色彩主題與字型，依個人習慣決定是否切換為繁體中文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能講出介面五大分區的用途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能安裝 Python 擴充套件，並在終端機執行 .py 檔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能用 AI 產生程式碼、貼回 VS Code 執行一個小遊戲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 理解「API 缺少授權驗證」為何是安全風險，並僅在授權環境中練習</a:t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1"/>
          <p:cNvSpPr/>
          <p:nvPr/>
        </p:nvSpPr>
        <p:spPr>
          <a:xfrm>
            <a:off x="-1" y="0"/>
            <a:ext cx="123600" cy="514350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81"/>
          <p:cNvSpPr txBox="1"/>
          <p:nvPr/>
        </p:nvSpPr>
        <p:spPr>
          <a:xfrm>
            <a:off x="583537" y="308610"/>
            <a:ext cx="748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3D5A8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課後</a:t>
            </a:r>
            <a:endParaRPr sz="1100"/>
          </a:p>
        </p:txBody>
      </p:sp>
      <p:sp>
        <p:nvSpPr>
          <p:cNvPr id="545" name="Google Shape;545;p81"/>
          <p:cNvSpPr txBox="1"/>
          <p:nvPr/>
        </p:nvSpPr>
        <p:spPr>
          <a:xfrm>
            <a:off x="583537" y="582930"/>
            <a:ext cx="7826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300"/>
              <a:buFont typeface="Microsoft JhengHei"/>
              <a:buNone/>
            </a:pP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</a:t>
            </a:r>
            <a:r>
              <a:rPr b="1" lang="zh-TW" sz="23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用當前的AI去做開發</a:t>
            </a:r>
            <a:endParaRPr b="1" sz="2300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6" name="Google Shape;546;p81"/>
          <p:cNvSpPr txBox="1"/>
          <p:nvPr/>
        </p:nvSpPr>
        <p:spPr>
          <a:xfrm>
            <a:off x="1578075" y="2081848"/>
            <a:ext cx="7620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1400"/>
              <a:buFont typeface="Microsoft JhengHei"/>
              <a:buNone/>
            </a:pPr>
            <a:r>
              <a:rPr lang="zh-TW" sz="2200">
                <a:solidFill>
                  <a:srgbClr val="1E1E2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假設...... 我不想要再跟ai對話複製貼上程式碼......</a:t>
            </a:r>
            <a:endParaRPr sz="2200"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2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