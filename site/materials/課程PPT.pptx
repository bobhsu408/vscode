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8" r:id="rId4"/>
    <p:sldMasterId id="214748366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a9482d153_3_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fa9482d153_3_4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a9482d153_3_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fa9482d153_3_4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a9482d153_3_5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fa9482d153_3_55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a9482d153_3_6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fa9482d153_3_6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a9482d153_3_6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3fa9482d153_3_69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a9482d153_0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fa9482d153_0_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a9482d153_3_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fa9482d153_3_8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a9482d153_0_3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fa9482d153_0_3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a9482d153_3_1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fa9482d153_3_10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a9482d153_0_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fa9482d153_0_1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a9482d153_0_2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fa9482d153_0_2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a9482d153_0_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g3fa9482d153_0_3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a9482d153_0_5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fa9482d153_0_5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a9482d153_0_6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a9482d153_0_69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a9482d153_0_7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a9482d153_0_7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a9482d153_0_8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fa9482d153_0_8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a9482d153_0_9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3fa9482d153_0_9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a9482d153_0_1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fa9482d153_0_10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a9482d153_0_4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fa9482d153_0_4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a9482d153_0_5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fa9482d153_0_51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a9482d153_0_1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a9482d153_0_10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a9482d153_0_1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fa9482d153_0_11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fa9482d153_0_1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g3fa9482d153_0_12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a9482d153_0_12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g3fa9482d153_0_12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a9482d153_0_13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fa9482d153_0_13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a9482d153_0_1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fa9482d153_0_14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a9482d153_3_11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g3fa9482d153_3_115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a9482d153_0_15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fa9482d153_0_15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fa9482d153_0_16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g3fa9482d153_0_16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fa9482d153_0_16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g3fa9482d153_0_16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a9482d153_3_13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a9482d153_3_139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a9482d153_3_1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fa9482d153_3_14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a9482d153_0_18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g3fa9482d153_0_185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fa9482d153_0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g3fa9482d153_0_21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a9482d153_0_19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g3fa9482d153_0_191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fa9482d153_0_19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g3fa9482d153_0_19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fa9482d153_0_20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g3fa9482d153_0_20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a9482d153_3_16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a9482d153_3_163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a9482d153_3_1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fa9482d153_3_182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fa9482d153_3_18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g3fa9482d153_3_188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fa9482d153_0_23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fa9482d153_0_233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fa9482d153_0_2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g3fa9482d153_0_240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fa9482d153_0_24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fa9482d153_0_249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a9482d153_0_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g3fa9482d153_0_25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fa9482d153_0_27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g3fa9482d153_0_27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fa9482d153_0_28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g3fa9482d153_0_28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a9482d153_0_29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g3fa9482d153_0_295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fa9482d153_3_2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g3fa9482d153_3_200:notes"/>
          <p:cNvSpPr/>
          <p:nvPr>
            <p:ph idx="2" type="sldImg"/>
          </p:nvPr>
        </p:nvSpPr>
        <p:spPr>
          <a:xfrm>
            <a:off x="1140616" y="685800"/>
            <a:ext cx="457676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a9482d153_3_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fa9482d153_3_209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fa9482d153_3_21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g3fa9482d153_3_218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fa9482d153_3_22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g3fa9482d153_3_227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fa9482d153_3_2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g3fa9482d153_3_236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fa9482d153_3_24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g3fa9482d153_3_24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fa9482d153_0_30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g3fa9482d153_0_304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fa9482d153_0_3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fa9482d153_0_322:notes"/>
          <p:cNvSpPr/>
          <p:nvPr>
            <p:ph idx="2" type="sldImg"/>
          </p:nvPr>
        </p:nvSpPr>
        <p:spPr>
          <a:xfrm>
            <a:off x="1140616" y="685800"/>
            <a:ext cx="45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title"/>
          </p:nvPr>
        </p:nvSpPr>
        <p:spPr>
          <a:xfrm>
            <a:off x="514886" y="1597819"/>
            <a:ext cx="583537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58" name="Google Shape;58;p15"/>
          <p:cNvSpPr txBox="1"/>
          <p:nvPr>
            <p:ph idx="1" type="body"/>
          </p:nvPr>
        </p:nvSpPr>
        <p:spPr>
          <a:xfrm>
            <a:off x="1029773" y="2914650"/>
            <a:ext cx="4805606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43258" y="1200150"/>
            <a:ext cx="6178636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/>
          <p:nvPr>
            <p:ph type="title"/>
          </p:nvPr>
        </p:nvSpPr>
        <p:spPr>
          <a:xfrm>
            <a:off x="542299" y="3305175"/>
            <a:ext cx="583537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  <a:defRPr b="1" sz="3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" type="body"/>
          </p:nvPr>
        </p:nvSpPr>
        <p:spPr>
          <a:xfrm>
            <a:off x="542299" y="2180035"/>
            <a:ext cx="5835379" cy="1125141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>
            <a:off x="343258" y="1200150"/>
            <a:ext cx="30321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100"/>
            </a:lvl1pPr>
            <a:lvl2pPr indent="-36195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–"/>
              <a:defRPr sz="2100"/>
            </a:lvl2pPr>
            <a:lvl3pPr indent="-36195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•"/>
              <a:defRPr sz="2100"/>
            </a:lvl3pPr>
            <a:lvl4pPr indent="-36195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–"/>
              <a:defRPr sz="2100"/>
            </a:lvl4pPr>
            <a:lvl5pPr indent="-36195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100"/>
              <a:buChar char="»"/>
              <a:defRPr sz="21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43258" y="1151334"/>
            <a:ext cx="303330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b="1" sz="18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5" name="Google Shape;75;p19"/>
          <p:cNvSpPr txBox="1"/>
          <p:nvPr>
            <p:ph idx="2" type="body"/>
          </p:nvPr>
        </p:nvSpPr>
        <p:spPr>
          <a:xfrm>
            <a:off x="3487401" y="1151334"/>
            <a:ext cx="303449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343258" y="205978"/>
            <a:ext cx="6178636" cy="85725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343258" y="204788"/>
            <a:ext cx="2258588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  <a:defRPr b="1"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" type="body"/>
          </p:nvPr>
        </p:nvSpPr>
        <p:spPr>
          <a:xfrm>
            <a:off x="2684083" y="204788"/>
            <a:ext cx="383781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2" type="body"/>
          </p:nvPr>
        </p:nvSpPr>
        <p:spPr>
          <a:xfrm>
            <a:off x="343257" y="1076325"/>
            <a:ext cx="225858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4" name="Google Shape;84;p21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type="title"/>
          </p:nvPr>
        </p:nvSpPr>
        <p:spPr>
          <a:xfrm>
            <a:off x="1345618" y="3600450"/>
            <a:ext cx="4119091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300" lIns="34300" spcFirstLastPara="1" rIns="34300" wrap="square" tIns="343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  <a:defRPr b="1"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/>
        </p:txBody>
      </p:sp>
      <p:sp>
        <p:nvSpPr>
          <p:cNvPr id="87" name="Google Shape;87;p22"/>
          <p:cNvSpPr/>
          <p:nvPr>
            <p:ph idx="2" type="pic"/>
          </p:nvPr>
        </p:nvSpPr>
        <p:spPr>
          <a:xfrm>
            <a:off x="1345618" y="459581"/>
            <a:ext cx="4119091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22"/>
          <p:cNvSpPr txBox="1"/>
          <p:nvPr>
            <p:ph idx="1" type="body"/>
          </p:nvPr>
        </p:nvSpPr>
        <p:spPr>
          <a:xfrm>
            <a:off x="1345618" y="4025503"/>
            <a:ext cx="4119091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  <a:defRPr sz="1100"/>
            </a:lvl5pPr>
            <a:lvl6pPr indent="-31750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22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0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69056"/>
            <a:ext cx="8229600" cy="113109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Calibri"/>
              <a:buNone/>
              <a:defRPr b="0" i="0" sz="3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810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810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»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810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810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810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810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327723" y="4811070"/>
            <a:ext cx="194170" cy="18622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6.png"/><Relationship Id="rId4" Type="http://schemas.openxmlformats.org/officeDocument/2006/relationships/image" Target="../media/image1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26.png"/><Relationship Id="rId5" Type="http://schemas.openxmlformats.org/officeDocument/2006/relationships/image" Target="../media/image2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5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7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9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8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3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0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7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3"/>
          <p:cNvSpPr txBox="1"/>
          <p:nvPr/>
        </p:nvSpPr>
        <p:spPr>
          <a:xfrm>
            <a:off x="583537" y="754379"/>
            <a:ext cx="7826273" cy="94488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3000"/>
              <a:buFont typeface="Microsoft JhengHei"/>
              <a:buNone/>
            </a:pPr>
            <a:r>
              <a:rPr b="1" i="0" lang="zh-TW" sz="30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微軟大戰程式碼 從入門到入侵     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(microsoft VS code)</a:t>
            </a:r>
            <a:endParaRPr sz="1100"/>
          </a:p>
        </p:txBody>
      </p:sp>
      <p:sp>
        <p:nvSpPr>
          <p:cNvPr id="96" name="Google Shape;96;p23"/>
          <p:cNvSpPr txBox="1"/>
          <p:nvPr/>
        </p:nvSpPr>
        <p:spPr>
          <a:xfrm>
            <a:off x="583537" y="2951363"/>
            <a:ext cx="6203116" cy="6972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8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從零安裝到能寫、能跑、能用終端機與 Git 的基本工作流。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8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面向客群：有電腦操作能利,未用VScode寫過程式。</a:t>
            </a:r>
            <a:endParaRPr sz="1100"/>
          </a:p>
        </p:txBody>
      </p:sp>
      <p:pic>
        <p:nvPicPr>
          <p:cNvPr descr="clipart1143950.png" id="97" name="Google Shape;9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1589" y="2725463"/>
            <a:ext cx="1383630" cy="1379536"/>
          </a:xfrm>
          <a:prstGeom prst="rect">
            <a:avLst/>
          </a:prstGeom>
          <a:noFill/>
          <a:ln>
            <a:noFill/>
          </a:ln>
          <a:effectLst>
            <a:reflection blurRad="0" dir="0" dist="0" endA="0" endPos="40000" kx="0" rotWithShape="0" algn="bl" stA="50000" stPos="0" sy="-100000" ky="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4"/>
          <p:cNvSpPr txBox="1"/>
          <p:nvPr/>
        </p:nvSpPr>
        <p:spPr>
          <a:xfrm>
            <a:off x="583537" y="308610"/>
            <a:ext cx="7483016" cy="2400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00:00 起</a:t>
            </a:r>
            <a:endParaRPr sz="1100"/>
          </a:p>
        </p:txBody>
      </p:sp>
      <p:sp>
        <p:nvSpPr>
          <p:cNvPr id="104" name="Google Shape;104;p24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今天的路線圖</a:t>
            </a:r>
            <a:endParaRPr sz="1100"/>
          </a:p>
        </p:txBody>
      </p:sp>
      <p:sp>
        <p:nvSpPr>
          <p:cNvPr id="105" name="Google Shape;105;p24"/>
          <p:cNvSpPr txBox="1"/>
          <p:nvPr/>
        </p:nvSpPr>
        <p:spPr>
          <a:xfrm>
            <a:off x="652189" y="1303020"/>
            <a:ext cx="7620319" cy="330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00:00–00:20  </a:t>
            </a:r>
            <a:r>
              <a:rPr b="0" i="0" lang="zh-TW" sz="1400" u="none" cap="none" strike="noStrik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安裝</a:t>
            </a: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與初次啟動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00:20–00:45  檔案與專案管理：</a:t>
            </a:r>
            <a:r>
              <a:rPr b="0" i="0" lang="zh-TW" sz="1400" u="none" cap="none" strike="noStrik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</a:t>
            </a: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下載資料夾與講義文件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00:45–01:05  換主題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01:05–01:15  繁體中文化（可選）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01:15–01:40  介面認識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01:40–01:50  休息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01:50–02:15  編輯技巧與快捷鍵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02:15–02:25  擴充套件：安裝 Python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02:25–02:45  整合終端機與 Git 基礎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02:45–03:00  </a:t>
            </a:r>
            <a:r>
              <a:rPr b="0" i="0" lang="zh-TW" sz="1400" u="none" cap="none" strike="noStrike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實作</a:t>
            </a: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：簽到靶機 API 練習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5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5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12" name="Google Shape;112;p25"/>
          <p:cNvSpPr txBox="1"/>
          <p:nvPr/>
        </p:nvSpPr>
        <p:spPr>
          <a:xfrm>
            <a:off x="652189" y="1303020"/>
            <a:ext cx="7620319" cy="3448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600"/>
              <a:buFont typeface="Microsoft JhengHei"/>
              <a:buChar char="•"/>
            </a:pPr>
            <a:r>
              <a:rPr b="0" i="0" lang="zh-TW" sz="16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官網下載對應版本（Windows .exe / macOS .zip)</a:t>
            </a:r>
            <a:endParaRPr sz="1100"/>
          </a:p>
        </p:txBody>
      </p:sp>
      <p:pic>
        <p:nvPicPr>
          <p:cNvPr descr="貼上的影片.png" id="113" name="Google Shape;11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659" y="1732343"/>
            <a:ext cx="9134476" cy="2955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6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20" name="Google Shape;120;p26"/>
          <p:cNvSpPr txBox="1"/>
          <p:nvPr/>
        </p:nvSpPr>
        <p:spPr>
          <a:xfrm>
            <a:off x="652189" y="1303020"/>
            <a:ext cx="7620319" cy="3448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600"/>
              <a:buFont typeface="Microsoft JhengHei"/>
              <a:buChar char="•"/>
            </a:pPr>
            <a:r>
              <a:rPr b="0" i="0" lang="zh-TW" sz="16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官網下載對應版本（Windows .exe / macOS .zip)</a:t>
            </a:r>
            <a:endParaRPr sz="1100"/>
          </a:p>
        </p:txBody>
      </p:sp>
      <p:pic>
        <p:nvPicPr>
          <p:cNvPr descr="貼上的影片.png" id="121" name="Google Shape;12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4806" y="1637999"/>
            <a:ext cx="7612381" cy="33502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7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7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下載與安裝</a:t>
            </a:r>
            <a:endParaRPr sz="1100"/>
          </a:p>
        </p:txBody>
      </p:sp>
      <p:sp>
        <p:nvSpPr>
          <p:cNvPr id="128" name="Google Shape;128;p27"/>
          <p:cNvSpPr txBox="1"/>
          <p:nvPr/>
        </p:nvSpPr>
        <p:spPr>
          <a:xfrm>
            <a:off x="652189" y="1303020"/>
            <a:ext cx="7620319" cy="3067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Windows 安裝時勾選「加入 PATH」</a:t>
            </a:r>
            <a:endParaRPr sz="1100"/>
          </a:p>
        </p:txBody>
      </p:sp>
      <p:pic>
        <p:nvPicPr>
          <p:cNvPr descr="貼上的影片.png" id="129" name="Google Shape;12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4876" y="1633617"/>
            <a:ext cx="3928736" cy="3218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VScode？</a:t>
            </a:r>
            <a:endParaRPr sz="1100"/>
          </a:p>
        </p:txBody>
      </p:sp>
      <p:pic>
        <p:nvPicPr>
          <p:cNvPr descr="貼上的影片.png" id="136" name="Google Shape;13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805" y="1008085"/>
            <a:ext cx="7293870" cy="38292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9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9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VScode？</a:t>
            </a:r>
            <a:endParaRPr sz="1100"/>
          </a:p>
        </p:txBody>
      </p:sp>
      <p:pic>
        <p:nvPicPr>
          <p:cNvPr descr="貼上的影片.png" id="143" name="Google Shape;14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805" y="1008085"/>
            <a:ext cx="7293870" cy="3829283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9"/>
          <p:cNvSpPr/>
          <p:nvPr/>
        </p:nvSpPr>
        <p:spPr>
          <a:xfrm>
            <a:off x="1863895" y="2721749"/>
            <a:ext cx="959888" cy="401956"/>
          </a:xfrm>
          <a:prstGeom prst="roundRect">
            <a:avLst>
              <a:gd fmla="val 38029" name="adj"/>
            </a:avLst>
          </a:prstGeom>
          <a:solidFill>
            <a:srgbClr val="FFFFFF">
              <a:alpha val="0"/>
            </a:srgbClr>
          </a:solidFill>
          <a:ln cap="flat" cmpd="sng" w="88900">
            <a:solidFill>
              <a:srgbClr val="F60B00"/>
            </a:solidFill>
            <a:prstDash val="solid"/>
            <a:miter lim="4000"/>
            <a:headEnd len="sm" w="sm" type="none"/>
            <a:tailEnd len="sm" w="sm" type="none"/>
          </a:ln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0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初次啟動一覽</a:t>
            </a:r>
            <a:endParaRPr sz="1100"/>
          </a:p>
        </p:txBody>
      </p:sp>
      <p:pic>
        <p:nvPicPr>
          <p:cNvPr id="151" name="Google Shape;15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4998" y="1028086"/>
            <a:ext cx="5979693" cy="37871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1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58" name="Google Shape;15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0748" y="1396561"/>
            <a:ext cx="6191250" cy="291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31"/>
          <p:cNvSpPr/>
          <p:nvPr/>
        </p:nvSpPr>
        <p:spPr>
          <a:xfrm rot="-1519316">
            <a:off x="2793484" y="1559433"/>
            <a:ext cx="742102" cy="1127508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66" name="Google Shape;16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3960" y="1062455"/>
            <a:ext cx="3045806" cy="383247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2"/>
          <p:cNvSpPr/>
          <p:nvPr/>
        </p:nvSpPr>
        <p:spPr>
          <a:xfrm rot="-5400000">
            <a:off x="4226640" y="17097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3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74" name="Google Shape;17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974" y="1091330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「開啟資料夾」＝ VS Code 裡的專案</a:t>
            </a:r>
            <a:endParaRPr sz="1100"/>
          </a:p>
        </p:txBody>
      </p:sp>
      <p:pic>
        <p:nvPicPr>
          <p:cNvPr id="181" name="Google Shape;181;p34"/>
          <p:cNvPicPr preferRelativeResize="0"/>
          <p:nvPr/>
        </p:nvPicPr>
        <p:blipFill rotWithShape="1">
          <a:blip r:embed="rId3">
            <a:alphaModFix/>
          </a:blip>
          <a:srcRect b="45055" l="0" r="79636" t="0"/>
          <a:stretch/>
        </p:blipFill>
        <p:spPr>
          <a:xfrm>
            <a:off x="3083600" y="1105750"/>
            <a:ext cx="2531625" cy="3842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5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誒! 為啥你的這麼紅????</a:t>
            </a:r>
            <a:endParaRPr sz="3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194" name="Google Shape;19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5649" y="1317280"/>
            <a:ext cx="7534275" cy="3219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6"/>
          <p:cNvSpPr/>
          <p:nvPr/>
        </p:nvSpPr>
        <p:spPr>
          <a:xfrm>
            <a:off x="6495025" y="3600875"/>
            <a:ext cx="1576800" cy="249900"/>
          </a:xfrm>
          <a:prstGeom prst="rect">
            <a:avLst/>
          </a:prstGeom>
          <a:noFill/>
          <a:ln cap="flat" cmpd="sng" w="76200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02" name="Google Shape;20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7899" y="1182655"/>
            <a:ext cx="6416752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09" name="Google Shape;20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8587" y="123550"/>
            <a:ext cx="423457" cy="4838699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8"/>
          <p:cNvSpPr/>
          <p:nvPr/>
        </p:nvSpPr>
        <p:spPr>
          <a:xfrm rot="-5400000">
            <a:off x="4967090" y="23260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如何個性化自己的VScode</a:t>
            </a:r>
            <a:endParaRPr sz="1100"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8824" y="1110555"/>
            <a:ext cx="2829535" cy="3832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0"/>
          <p:cNvSpPr txBox="1"/>
          <p:nvPr/>
        </p:nvSpPr>
        <p:spPr>
          <a:xfrm>
            <a:off x="3977650" y="2360100"/>
            <a:ext cx="21231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如何瀏覽檔案？</a:t>
            </a:r>
            <a:endParaRPr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1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打開“上課用txt.txt”</a:t>
            </a:r>
            <a:endParaRPr sz="1100"/>
          </a:p>
        </p:txBody>
      </p:sp>
      <p:pic>
        <p:nvPicPr>
          <p:cNvPr id="230" name="Google Shape;23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4824" y="114900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打開“上課用ppt.pptx”</a:t>
            </a:r>
            <a:endParaRPr sz="1100"/>
          </a:p>
        </p:txBody>
      </p:sp>
      <p:pic>
        <p:nvPicPr>
          <p:cNvPr id="237" name="Google Shape;23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74" y="104805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43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誒! 為啥</a:t>
            </a: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我的ppt打不開</a:t>
            </a:r>
            <a:endParaRPr sz="3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4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50" name="Google Shape;25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8587" y="123550"/>
            <a:ext cx="423457" cy="4838699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44"/>
          <p:cNvSpPr/>
          <p:nvPr/>
        </p:nvSpPr>
        <p:spPr>
          <a:xfrm rot="-5400000">
            <a:off x="4967090" y="2326099"/>
            <a:ext cx="742200" cy="1127700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6D9EEB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4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58" name="Google Shape;25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8824" y="1110555"/>
            <a:ext cx="2829535" cy="3832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4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65" name="Google Shape;26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8624" y="1471105"/>
            <a:ext cx="4991100" cy="251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4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如何在vscode裡面開啟文件</a:t>
            </a:r>
            <a:endParaRPr sz="1100"/>
          </a:p>
        </p:txBody>
      </p:sp>
      <p:pic>
        <p:nvPicPr>
          <p:cNvPr id="272" name="Google Shape;27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1549" y="1038430"/>
            <a:ext cx="6668385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4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打開“上課用ppt.pptx”</a:t>
            </a:r>
            <a:endParaRPr sz="1100"/>
          </a:p>
        </p:txBody>
      </p:sp>
      <p:pic>
        <p:nvPicPr>
          <p:cNvPr id="279" name="Google Shape;27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74" y="1048055"/>
            <a:ext cx="6813281" cy="3832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49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286" name="Google Shape;286;p49"/>
          <p:cNvSpPr txBox="1"/>
          <p:nvPr/>
        </p:nvSpPr>
        <p:spPr>
          <a:xfrm>
            <a:off x="363714" y="12453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右鍵 Explorer 空白處 → New File，練習新建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“txt</a:t>
            </a: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.txt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”</a:t>
            </a:r>
            <a:endParaRPr sz="1100"/>
          </a:p>
        </p:txBody>
      </p:sp>
      <p:pic>
        <p:nvPicPr>
          <p:cNvPr id="287" name="Google Shape;287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905" y="0"/>
            <a:ext cx="273909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0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50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294" name="Google Shape;294;p50"/>
          <p:cNvSpPr txBox="1"/>
          <p:nvPr/>
        </p:nvSpPr>
        <p:spPr>
          <a:xfrm>
            <a:off x="363714" y="12453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存檔快捷鍵 Ctrl+S；分頁圓點代表尚未儲存</a:t>
            </a:r>
            <a:endParaRPr sz="1100"/>
          </a:p>
        </p:txBody>
      </p:sp>
      <p:pic>
        <p:nvPicPr>
          <p:cNvPr id="295" name="Google Shape;295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2474" y="2191995"/>
            <a:ext cx="44767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74" y="2062183"/>
            <a:ext cx="4039826" cy="2155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51"/>
          <p:cNvSpPr txBox="1"/>
          <p:nvPr/>
        </p:nvSpPr>
        <p:spPr>
          <a:xfrm>
            <a:off x="1472928" y="1957875"/>
            <a:ext cx="65751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4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好煩 不想一直按儲存!!!!!!</a:t>
            </a:r>
            <a:endParaRPr sz="3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5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5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建立、儲存檔案小練習</a:t>
            </a:r>
            <a:endParaRPr sz="1100"/>
          </a:p>
        </p:txBody>
      </p:sp>
      <p:sp>
        <p:nvSpPr>
          <p:cNvPr id="309" name="Google Shape;309;p52"/>
          <p:cNvSpPr txBox="1"/>
          <p:nvPr/>
        </p:nvSpPr>
        <p:spPr>
          <a:xfrm>
            <a:off x="411789" y="2403945"/>
            <a:ext cx="7620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 sz="21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</a:t>
            </a:r>
            <a:r>
              <a:rPr lang="zh-TW" sz="21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將Auto Save打開 一勞永逸</a:t>
            </a:r>
            <a:endParaRPr sz="1800"/>
          </a:p>
        </p:txBody>
      </p:sp>
      <p:pic>
        <p:nvPicPr>
          <p:cNvPr id="310" name="Google Shape;31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9080" y="0"/>
            <a:ext cx="28641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3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53"/>
          <p:cNvSpPr txBox="1"/>
          <p:nvPr/>
        </p:nvSpPr>
        <p:spPr>
          <a:xfrm>
            <a:off x="573912" y="11658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繁體中文化（可選）</a:t>
            </a:r>
            <a:endParaRPr sz="1100"/>
          </a:p>
        </p:txBody>
      </p:sp>
      <p:sp>
        <p:nvSpPr>
          <p:cNvPr id="317" name="Google Shape;317;p53"/>
          <p:cNvSpPr txBox="1"/>
          <p:nvPr/>
        </p:nvSpPr>
        <p:spPr>
          <a:xfrm>
            <a:off x="618589" y="539870"/>
            <a:ext cx="7620300" cy="6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命令面板輸入 Configure Display Language</a:t>
            </a:r>
            <a:r>
              <a:rPr lang="zh-TW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（Ctrl+Shift+P / Cmd+Shift+P)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安裝 Chinese (Traditional) Language Pack，重啟生效</a:t>
            </a:r>
            <a:endParaRPr sz="1100"/>
          </a:p>
        </p:txBody>
      </p:sp>
      <p:pic>
        <p:nvPicPr>
          <p:cNvPr id="318" name="Google Shape;31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200" y="1263050"/>
            <a:ext cx="5767150" cy="202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73950" y="2125650"/>
            <a:ext cx="5128876" cy="3017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4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4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26" name="Google Shape;326;p54"/>
          <p:cNvSpPr txBox="1"/>
          <p:nvPr/>
        </p:nvSpPr>
        <p:spPr>
          <a:xfrm>
            <a:off x="652189" y="1303020"/>
            <a:ext cx="7620319" cy="164020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Bar（左側最窄那排圖示）：切換功能面板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側邊欄：檔案總管、搜尋、原始碼控制、擴充套件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編輯區：真正打字的地方，可分割成多個分頁/窗格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狀態列（底部）：語言、編碼、游標位置、Git 分支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右上角工具列：分割編輯器、開啟終端機、切換版面</a:t>
            </a:r>
            <a:endParaRPr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5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33" name="Google Shape;333;p55"/>
          <p:cNvSpPr txBox="1"/>
          <p:nvPr/>
        </p:nvSpPr>
        <p:spPr>
          <a:xfrm>
            <a:off x="2493489" y="678045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Bar（左側最窄那排圖示）：切換功能面板</a:t>
            </a:r>
            <a:endParaRPr sz="1500"/>
          </a:p>
        </p:txBody>
      </p:sp>
      <p:pic>
        <p:nvPicPr>
          <p:cNvPr id="334" name="Google Shape;33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3976" y="1082720"/>
            <a:ext cx="357200" cy="40814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5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41" name="Google Shape;341;p56"/>
          <p:cNvSpPr txBox="1"/>
          <p:nvPr/>
        </p:nvSpPr>
        <p:spPr>
          <a:xfrm>
            <a:off x="2493489" y="678045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</a:t>
            </a:r>
            <a:r>
              <a:rPr lang="zh-TW" sz="18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側邊欄：檔案總管、搜尋、原始碼控制、擴充套件</a:t>
            </a:r>
            <a:endParaRPr sz="1800"/>
          </a:p>
        </p:txBody>
      </p:sp>
      <p:pic>
        <p:nvPicPr>
          <p:cNvPr id="342" name="Google Shape;342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074" y="1160795"/>
            <a:ext cx="2461812" cy="3814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46936" y="1136770"/>
            <a:ext cx="2215508" cy="3814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7894" y="1114145"/>
            <a:ext cx="2026774" cy="3814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5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51" name="Google Shape;351;p57"/>
          <p:cNvSpPr txBox="1"/>
          <p:nvPr/>
        </p:nvSpPr>
        <p:spPr>
          <a:xfrm>
            <a:off x="2474264" y="673220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編輯區：真正打字的地方，可分割成多個分頁/窗格</a:t>
            </a:r>
            <a:endParaRPr sz="1800"/>
          </a:p>
        </p:txBody>
      </p:sp>
      <p:pic>
        <p:nvPicPr>
          <p:cNvPr id="352" name="Google Shape;35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2099" y="1210270"/>
            <a:ext cx="5529237" cy="38192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5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59" name="Google Shape;359;p58"/>
          <p:cNvSpPr txBox="1"/>
          <p:nvPr/>
        </p:nvSpPr>
        <p:spPr>
          <a:xfrm>
            <a:off x="2411764" y="721520"/>
            <a:ext cx="7620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8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狀態列（底部）：語言、編碼、游標位置、Git 分支</a:t>
            </a:r>
            <a:endParaRPr sz="1800"/>
          </a:p>
        </p:txBody>
      </p:sp>
      <p:pic>
        <p:nvPicPr>
          <p:cNvPr id="360" name="Google Shape;360;p58"/>
          <p:cNvPicPr preferRelativeResize="0"/>
          <p:nvPr/>
        </p:nvPicPr>
        <p:blipFill rotWithShape="1">
          <a:blip r:embed="rId3">
            <a:alphaModFix/>
          </a:blip>
          <a:srcRect b="-54527" l="0" r="80073" t="15"/>
          <a:stretch/>
        </p:blipFill>
        <p:spPr>
          <a:xfrm>
            <a:off x="418275" y="2543624"/>
            <a:ext cx="5240223" cy="63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58"/>
          <p:cNvPicPr preferRelativeResize="0"/>
          <p:nvPr/>
        </p:nvPicPr>
        <p:blipFill rotWithShape="1">
          <a:blip r:embed="rId3">
            <a:alphaModFix/>
          </a:blip>
          <a:srcRect b="-15845" l="74632" r="-658" t="-18437"/>
          <a:stretch/>
        </p:blipFill>
        <p:spPr>
          <a:xfrm>
            <a:off x="4491475" y="3571950"/>
            <a:ext cx="4652524" cy="37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5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介面五大分區</a:t>
            </a:r>
            <a:endParaRPr sz="1100"/>
          </a:p>
        </p:txBody>
      </p:sp>
      <p:sp>
        <p:nvSpPr>
          <p:cNvPr id="368" name="Google Shape;368;p59"/>
          <p:cNvSpPr txBox="1"/>
          <p:nvPr/>
        </p:nvSpPr>
        <p:spPr>
          <a:xfrm>
            <a:off x="2392539" y="652220"/>
            <a:ext cx="7620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右上角工具列：分割編輯器、開啟終端機、切換版面</a:t>
            </a:r>
            <a:endParaRPr sz="1100"/>
          </a:p>
        </p:txBody>
      </p:sp>
      <p:pic>
        <p:nvPicPr>
          <p:cNvPr id="369" name="Google Shape;36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8101" y="1711279"/>
            <a:ext cx="5853325" cy="25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0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60"/>
          <p:cNvSpPr txBox="1"/>
          <p:nvPr/>
        </p:nvSpPr>
        <p:spPr>
          <a:xfrm>
            <a:off x="583537" y="421005"/>
            <a:ext cx="7483016" cy="287656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100"/>
              <a:buFont typeface="Microsoft JhengHei"/>
              <a:buNone/>
            </a:pPr>
            <a:r>
              <a:rPr b="1" i="0" lang="zh-TW" sz="11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☕ BREAK</a:t>
            </a:r>
            <a:endParaRPr sz="1100"/>
          </a:p>
        </p:txBody>
      </p:sp>
      <p:sp>
        <p:nvSpPr>
          <p:cNvPr id="376" name="Google Shape;376;p60"/>
          <p:cNvSpPr txBox="1"/>
          <p:nvPr/>
        </p:nvSpPr>
        <p:spPr>
          <a:xfrm>
            <a:off x="583537" y="754379"/>
            <a:ext cx="7826273" cy="60198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3000"/>
              <a:buFont typeface="Microsoft JhengHei"/>
              <a:buNone/>
            </a:pPr>
            <a:r>
              <a:rPr b="1" i="0" lang="zh-TW" sz="30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休息 10 分鐘</a:t>
            </a:r>
            <a:endParaRPr sz="11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61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61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擴充套件：安裝 Python</a:t>
            </a:r>
            <a:endParaRPr sz="1100"/>
          </a:p>
        </p:txBody>
      </p:sp>
      <p:sp>
        <p:nvSpPr>
          <p:cNvPr id="383" name="Google Shape;383;p61"/>
          <p:cNvSpPr txBox="1"/>
          <p:nvPr/>
        </p:nvSpPr>
        <p:spPr>
          <a:xfrm>
            <a:off x="652189" y="1303020"/>
            <a:ext cx="7620300" cy="9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主題、字型、中文包已在課程一開頭裝過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Activity Bar 中方塊圖示 → Extensions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安裝 Python（Microsoft 官方）：等下寫爬蟲要用</a:t>
            </a:r>
            <a:endParaRPr sz="11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2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62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390" name="Google Shape;390;p62"/>
          <p:cNvSpPr txBox="1"/>
          <p:nvPr/>
        </p:nvSpPr>
        <p:spPr>
          <a:xfrm>
            <a:off x="720839" y="2348865"/>
            <a:ext cx="7551600" cy="68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請詢問ai “請幫我寫一個國小數學的問答挑戰python檔 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可以在終端機畫面做答題“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6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63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397" name="Google Shape;397;p63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398" name="Google Shape;39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7624" y="2651077"/>
            <a:ext cx="5257800" cy="1666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63"/>
          <p:cNvSpPr txBox="1"/>
          <p:nvPr/>
        </p:nvSpPr>
        <p:spPr>
          <a:xfrm>
            <a:off x="850714" y="12815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創建檔案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6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64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06" name="Google Shape;406;p64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07" name="Google Shape;40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8099" y="1460140"/>
            <a:ext cx="5482698" cy="2112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65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14" name="Google Shape;414;p65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15" name="Google Shape;415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16276" y="449437"/>
            <a:ext cx="3714299" cy="4595724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65"/>
          <p:cNvSpPr txBox="1"/>
          <p:nvPr/>
        </p:nvSpPr>
        <p:spPr>
          <a:xfrm>
            <a:off x="432444" y="2464225"/>
            <a:ext cx="3110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找到ai給出的答案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6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6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23" name="Google Shape;423;p66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424" name="Google Shape;424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151" y="445736"/>
            <a:ext cx="3594125" cy="4366626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66"/>
          <p:cNvSpPr txBox="1"/>
          <p:nvPr/>
        </p:nvSpPr>
        <p:spPr>
          <a:xfrm>
            <a:off x="432444" y="2464225"/>
            <a:ext cx="3110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貼上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6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32" name="Google Shape;432;p67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33" name="Google Shape;433;p67"/>
          <p:cNvSpPr txBox="1"/>
          <p:nvPr/>
        </p:nvSpPr>
        <p:spPr>
          <a:xfrm>
            <a:off x="432452" y="2464225"/>
            <a:ext cx="3990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按下三角形完成執行python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4" name="Google Shape;434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0874" y="2315850"/>
            <a:ext cx="2952750" cy="55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8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68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41" name="Google Shape;441;p68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42" name="Google Shape;442;p68"/>
          <p:cNvSpPr txBox="1"/>
          <p:nvPr/>
        </p:nvSpPr>
        <p:spPr>
          <a:xfrm>
            <a:off x="1966301" y="2412025"/>
            <a:ext cx="116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快樂答題</a:t>
            </a:r>
            <a:endParaRPr sz="2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3" name="Google Shape;443;p68"/>
          <p:cNvPicPr preferRelativeResize="0"/>
          <p:nvPr/>
        </p:nvPicPr>
        <p:blipFill rotWithShape="1">
          <a:blip r:embed="rId3">
            <a:alphaModFix/>
          </a:blip>
          <a:srcRect b="0" l="0" r="59358" t="0"/>
          <a:stretch/>
        </p:blipFill>
        <p:spPr>
          <a:xfrm>
            <a:off x="4874875" y="1963400"/>
            <a:ext cx="3716252" cy="114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69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69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製作簡單的小遊戲</a:t>
            </a:r>
            <a:endParaRPr sz="1100"/>
          </a:p>
        </p:txBody>
      </p:sp>
      <p:sp>
        <p:nvSpPr>
          <p:cNvPr id="450" name="Google Shape;450;p69"/>
          <p:cNvSpPr txBox="1"/>
          <p:nvPr/>
        </p:nvSpPr>
        <p:spPr>
          <a:xfrm>
            <a:off x="720839" y="2348865"/>
            <a:ext cx="7551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451" name="Google Shape;451;p69"/>
          <p:cNvSpPr txBox="1"/>
          <p:nvPr/>
        </p:nvSpPr>
        <p:spPr>
          <a:xfrm>
            <a:off x="1173050" y="2211475"/>
            <a:ext cx="2846100" cy="136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如果要暫停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點擊終端機 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4DC"/>
              </a:buClr>
              <a:buSzPts val="1100"/>
              <a:buFont typeface="Consolas"/>
              <a:buNone/>
            </a:pPr>
            <a:r>
              <a:rPr lang="zh-TW" sz="2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按下ctrl + C</a:t>
            </a:r>
            <a:endParaRPr sz="2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52" name="Google Shape;452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025" y="2007645"/>
            <a:ext cx="5485525" cy="18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70"/>
          <p:cNvSpPr/>
          <p:nvPr/>
        </p:nvSpPr>
        <p:spPr>
          <a:xfrm>
            <a:off x="-1" y="0"/>
            <a:ext cx="123574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70"/>
          <p:cNvSpPr txBox="1"/>
          <p:nvPr/>
        </p:nvSpPr>
        <p:spPr>
          <a:xfrm>
            <a:off x="583537" y="582930"/>
            <a:ext cx="7826273" cy="468631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Git 基礎操作</a:t>
            </a:r>
            <a:endParaRPr sz="1100"/>
          </a:p>
        </p:txBody>
      </p:sp>
      <p:sp>
        <p:nvSpPr>
          <p:cNvPr id="459" name="Google Shape;459;p70"/>
          <p:cNvSpPr txBox="1"/>
          <p:nvPr/>
        </p:nvSpPr>
        <p:spPr>
          <a:xfrm>
            <a:off x="652189" y="1303020"/>
            <a:ext cx="7620300" cy="6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終端機輸入 git init 初始化版本控制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訊息框輸入說明文字，Ctrl+Enter 完成 commit</a:t>
            </a:r>
            <a:endParaRPr sz="1100"/>
          </a:p>
        </p:txBody>
      </p:sp>
      <p:pic>
        <p:nvPicPr>
          <p:cNvPr id="460" name="Google Shape;46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3648" y="1991120"/>
            <a:ext cx="5857029" cy="293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71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71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授權說明 · 靶機練習</a:t>
            </a:r>
            <a:endParaRPr sz="1100"/>
          </a:p>
        </p:txBody>
      </p:sp>
      <p:sp>
        <p:nvSpPr>
          <p:cNvPr id="467" name="Google Shape;467;p71"/>
          <p:cNvSpPr txBox="1"/>
          <p:nvPr/>
        </p:nvSpPr>
        <p:spPr>
          <a:xfrm>
            <a:off x="652189" y="1303020"/>
            <a:ext cx="7620300" cy="13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本練習使用講師自架的教學用簽到系統（靶機）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僅供本課程授權環境練習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情境：API 缺少授權驗證（Broken Authentication / Missing Access Control）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對應 OWASP API Security Top 10 — API2 類別</a:t>
            </a:r>
            <a:endParaRPr sz="1100"/>
          </a:p>
        </p:txBody>
      </p:sp>
      <p:grpSp>
        <p:nvGrpSpPr>
          <p:cNvPr id="468" name="Google Shape;468;p71"/>
          <p:cNvGrpSpPr/>
          <p:nvPr/>
        </p:nvGrpSpPr>
        <p:grpSpPr>
          <a:xfrm>
            <a:off x="617862" y="3086099"/>
            <a:ext cx="7689243" cy="617175"/>
            <a:chOff x="-1" y="-1"/>
            <a:chExt cx="10241400" cy="822900"/>
          </a:xfrm>
        </p:grpSpPr>
        <p:sp>
          <p:nvSpPr>
            <p:cNvPr id="469" name="Google Shape;469;p71"/>
            <p:cNvSpPr/>
            <p:nvPr/>
          </p:nvSpPr>
          <p:spPr>
            <a:xfrm>
              <a:off x="-1" y="-1"/>
              <a:ext cx="10241400" cy="822900"/>
            </a:xfrm>
            <a:prstGeom prst="rect">
              <a:avLst/>
            </a:prstGeom>
            <a:solidFill>
              <a:srgbClr val="F6E9D8"/>
            </a:solidFill>
            <a:ln>
              <a:noFill/>
            </a:ln>
            <a:effectLst>
              <a:outerShdw blurRad="381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300" lIns="34300" spcFirstLastPara="1" rIns="34300" wrap="square" tIns="343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0" name="Google Shape;470;p71"/>
            <p:cNvSpPr txBox="1"/>
            <p:nvPr/>
          </p:nvSpPr>
          <p:spPr>
            <a:xfrm>
              <a:off x="182879" y="264414"/>
              <a:ext cx="10012800" cy="31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300" lIns="34300" spcFirstLastPara="1" rIns="34300" wrap="square" tIns="343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8863A"/>
                </a:buClr>
                <a:buSzPts val="1100"/>
                <a:buFont typeface="Microsoft JhengHei"/>
                <a:buNone/>
              </a:pPr>
              <a:r>
                <a:rPr b="1" i="0" lang="zh-TW" sz="1100" u="none" cap="none" strike="noStrike">
                  <a:solidFill>
                    <a:srgbClr val="C8863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此手法僅可用於自己架設或明確授權的系統</a:t>
              </a:r>
              <a:endParaRPr sz="110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2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72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觀察靶機：從 /docs 看到所有 API</a:t>
            </a:r>
            <a:endParaRPr sz="1100"/>
          </a:p>
        </p:txBody>
      </p:sp>
      <p:sp>
        <p:nvSpPr>
          <p:cNvPr id="477" name="Google Shape;477;p72"/>
          <p:cNvSpPr txBox="1"/>
          <p:nvPr/>
        </p:nvSpPr>
        <p:spPr>
          <a:xfrm>
            <a:off x="652189" y="1303020"/>
            <a:ext cx="7620300" cy="9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介面上開放了 API 文件頁（如 FastAPI 的 /docs）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任何人都能看到完整端點清單與參數格式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呼叫時不需要任何登入 token</a:t>
            </a:r>
            <a:endParaRPr sz="11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73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73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寫最小可行的 Python 呼叫腳本</a:t>
            </a:r>
            <a:endParaRPr sz="1100"/>
          </a:p>
        </p:txBody>
      </p:sp>
      <p:sp>
        <p:nvSpPr>
          <p:cNvPr id="484" name="Google Shape;484;p73"/>
          <p:cNvSpPr txBox="1"/>
          <p:nvPr/>
        </p:nvSpPr>
        <p:spPr>
          <a:xfrm>
            <a:off x="652189" y="1303020"/>
            <a:ext cx="7620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新建 checkin.py，安裝 requests 套件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端點路徑、參數欄位請依實際靶機規格調整</a:t>
            </a:r>
            <a:endParaRPr sz="1100"/>
          </a:p>
        </p:txBody>
      </p:sp>
      <p:grpSp>
        <p:nvGrpSpPr>
          <p:cNvPr id="485" name="Google Shape;485;p73"/>
          <p:cNvGrpSpPr/>
          <p:nvPr/>
        </p:nvGrpSpPr>
        <p:grpSpPr>
          <a:xfrm>
            <a:off x="617863" y="2400299"/>
            <a:ext cx="7689243" cy="1117328"/>
            <a:chOff x="0" y="0"/>
            <a:chExt cx="10241400" cy="1489770"/>
          </a:xfrm>
        </p:grpSpPr>
        <p:sp>
          <p:nvSpPr>
            <p:cNvPr id="486" name="Google Shape;486;p73"/>
            <p:cNvSpPr/>
            <p:nvPr/>
          </p:nvSpPr>
          <p:spPr>
            <a:xfrm>
              <a:off x="0" y="0"/>
              <a:ext cx="10241400" cy="1463100"/>
            </a:xfrm>
            <a:prstGeom prst="rect">
              <a:avLst/>
            </a:prstGeom>
            <a:solidFill>
              <a:srgbClr val="1E1E2E"/>
            </a:solidFill>
            <a:ln>
              <a:noFill/>
            </a:ln>
            <a:effectLst>
              <a:outerShdw blurRad="381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300" lIns="34300" spcFirstLastPara="1" rIns="34300" wrap="square" tIns="343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487;p73"/>
            <p:cNvSpPr txBox="1"/>
            <p:nvPr/>
          </p:nvSpPr>
          <p:spPr>
            <a:xfrm>
              <a:off x="137159" y="64770"/>
              <a:ext cx="10058400" cy="142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300" lIns="34300" spcFirstLastPara="1" rIns="34300" wrap="square" tIns="343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100"/>
                <a:buFont typeface="Consolas"/>
                <a:buNone/>
              </a:pPr>
              <a:r>
                <a:rPr b="0" i="0" lang="zh-TW" sz="1100" u="none" cap="none" strike="noStrike">
                  <a:solidFill>
                    <a:srgbClr val="D4D4DC"/>
                  </a:solidFill>
                  <a:latin typeface="Consolas"/>
                  <a:ea typeface="Consolas"/>
                  <a:cs typeface="Consolas"/>
                  <a:sym typeface="Consolas"/>
                </a:rPr>
                <a:t>import requests</a:t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100"/>
                <a:buFont typeface="Consolas"/>
                <a:buNone/>
              </a:pPr>
              <a:r>
                <a:rPr b="0" i="0" lang="zh-TW" sz="1100" u="none" cap="none" strike="noStrike">
                  <a:solidFill>
                    <a:srgbClr val="D4D4DC"/>
                  </a:solidFill>
                  <a:latin typeface="Consolas"/>
                  <a:ea typeface="Consolas"/>
                  <a:cs typeface="Consolas"/>
                  <a:sym typeface="Consolas"/>
                </a:rPr>
                <a:t>BASE_URL = "http://靶機位址"</a:t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400"/>
                <a:buFont typeface="Consolas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100"/>
                <a:buFont typeface="Consolas"/>
                <a:buNone/>
              </a:pPr>
              <a:r>
                <a:rPr b="0" i="0" lang="zh-TW" sz="1100" u="none" cap="none" strike="noStrike">
                  <a:solidFill>
                    <a:srgbClr val="D4D4DC"/>
                  </a:solidFill>
                  <a:latin typeface="Consolas"/>
                  <a:ea typeface="Consolas"/>
                  <a:cs typeface="Consolas"/>
                  <a:sym typeface="Consolas"/>
                </a:rPr>
                <a:t>def checkin(user_id):</a:t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100"/>
                <a:buFont typeface="Consolas"/>
                <a:buNone/>
              </a:pPr>
              <a:r>
                <a:rPr b="0" i="0" lang="zh-TW" sz="1100" u="none" cap="none" strike="noStrike">
                  <a:solidFill>
                    <a:srgbClr val="D4D4DC"/>
                  </a:solidFill>
                  <a:latin typeface="Consolas"/>
                  <a:ea typeface="Consolas"/>
                  <a:cs typeface="Consolas"/>
                  <a:sym typeface="Consolas"/>
                </a:rPr>
                <a:t>    r = requests.post(f"{BASE_URL}/api/checkin", json={"user_id": user_id})</a:t>
              </a:r>
              <a:endPara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D4D4DC"/>
                </a:buClr>
                <a:buSzPts val="1100"/>
                <a:buFont typeface="Consolas"/>
                <a:buNone/>
              </a:pPr>
              <a:r>
                <a:rPr b="0" i="0" lang="zh-TW" sz="1100" u="none" cap="none" strike="noStrike">
                  <a:solidFill>
                    <a:srgbClr val="D4D4DC"/>
                  </a:solidFill>
                  <a:latin typeface="Consolas"/>
                  <a:ea typeface="Consolas"/>
                  <a:cs typeface="Consolas"/>
                  <a:sym typeface="Consolas"/>
                </a:rPr>
                <a:t>    print(r.status_code, r.json())</a:t>
              </a:r>
              <a:endParaRPr sz="110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4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74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討論：這個漏洞為什麼危險？</a:t>
            </a:r>
            <a:endParaRPr sz="1100"/>
          </a:p>
        </p:txBody>
      </p:sp>
      <p:sp>
        <p:nvSpPr>
          <p:cNvPr id="494" name="Google Shape;494;p74"/>
          <p:cNvSpPr txBox="1"/>
          <p:nvPr/>
        </p:nvSpPr>
        <p:spPr>
          <a:xfrm>
            <a:off x="652189" y="1303020"/>
            <a:ext cx="7620300" cy="9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沒有驗證使用者身分（token / session）→ 任何人可代簽他人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公開的 /docs 等於把「攻擊地圖」直接給了所有人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正確修法：每個請求驗證登入身分，且只能操作自己的紀錄</a:t>
            </a:r>
            <a:endParaRPr sz="11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5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75"/>
          <p:cNvSpPr txBox="1"/>
          <p:nvPr/>
        </p:nvSpPr>
        <p:spPr>
          <a:xfrm>
            <a:off x="583537" y="308610"/>
            <a:ext cx="7482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課後</a:t>
            </a:r>
            <a:endParaRPr sz="1100"/>
          </a:p>
        </p:txBody>
      </p:sp>
      <p:sp>
        <p:nvSpPr>
          <p:cNvPr id="501" name="Google Shape;501;p75"/>
          <p:cNvSpPr txBox="1"/>
          <p:nvPr/>
        </p:nvSpPr>
        <p:spPr>
          <a:xfrm>
            <a:off x="583537" y="582930"/>
            <a:ext cx="78264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自我檢查清單</a:t>
            </a:r>
            <a:endParaRPr sz="1100"/>
          </a:p>
        </p:txBody>
      </p:sp>
      <p:sp>
        <p:nvSpPr>
          <p:cNvPr id="502" name="Google Shape;502;p75"/>
          <p:cNvSpPr txBox="1"/>
          <p:nvPr/>
        </p:nvSpPr>
        <p:spPr>
          <a:xfrm>
            <a:off x="652189" y="1303020"/>
            <a:ext cx="7620300" cy="230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能獨立安裝 VS Code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能開啟資料夾，並用 Office 擴充套件直接瀏覽 PPT / Word 文件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能切換喜歡的色彩主題與字型，依個人習慣決定是否切換為繁體中文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能講出五大介面分區與選單列的用途，並用命令面板找到任何功能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能使用多游標與搜尋取代加速編輯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能安裝擴充套件（Python）並開啟整合終端機執行基本指令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理解「API 缺少授權驗證」為何是安全風險，並僅在授權環境中練習</a:t>
            </a:r>
            <a:endParaRPr sz="11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76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76"/>
          <p:cNvSpPr txBox="1"/>
          <p:nvPr/>
        </p:nvSpPr>
        <p:spPr>
          <a:xfrm>
            <a:off x="583537" y="308610"/>
            <a:ext cx="7482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課後</a:t>
            </a:r>
            <a:endParaRPr sz="1100"/>
          </a:p>
        </p:txBody>
      </p:sp>
      <p:sp>
        <p:nvSpPr>
          <p:cNvPr id="509" name="Google Shape;509;p76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i="0" lang="zh-TW" sz="23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自我檢查清單</a:t>
            </a:r>
            <a:endParaRPr sz="1100"/>
          </a:p>
        </p:txBody>
      </p:sp>
      <p:sp>
        <p:nvSpPr>
          <p:cNvPr id="510" name="Google Shape;510;p76"/>
          <p:cNvSpPr txBox="1"/>
          <p:nvPr/>
        </p:nvSpPr>
        <p:spPr>
          <a:xfrm>
            <a:off x="652189" y="1303020"/>
            <a:ext cx="7620300" cy="18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能獨立安裝 VS Code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能開啟資料夾，並用 Office 擴充套件直接瀏覽 PPT / Word 文件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能切換喜歡的色彩主題，依個人習慣決定是否切換為繁體中文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能講出五大介面分區的用途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能安裝擴充套件（Python）並開啟整合終端機執行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b="0" i="0" lang="zh-TW" sz="1400" u="none" cap="none" strike="noStrike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 理解「API 缺少授權驗證」為何是安全風險，並僅在授權環境中練習</a:t>
            </a:r>
            <a:endParaRPr sz="11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3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7"/>
          <p:cNvSpPr/>
          <p:nvPr/>
        </p:nvSpPr>
        <p:spPr>
          <a:xfrm>
            <a:off x="-1" y="0"/>
            <a:ext cx="123600" cy="5143500"/>
          </a:xfrm>
          <a:prstGeom prst="rect">
            <a:avLst/>
          </a:prstGeom>
          <a:solidFill>
            <a:srgbClr val="3D5A80"/>
          </a:solidFill>
          <a:ln>
            <a:noFill/>
          </a:ln>
          <a:effectLst>
            <a:outerShdw blurRad="381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300" lIns="34300" spcFirstLastPara="1" rIns="34300" wrap="square" tIns="343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77"/>
          <p:cNvSpPr txBox="1"/>
          <p:nvPr/>
        </p:nvSpPr>
        <p:spPr>
          <a:xfrm>
            <a:off x="583537" y="308610"/>
            <a:ext cx="7482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5A80"/>
              </a:buClr>
              <a:buSzPts val="1000"/>
              <a:buFont typeface="Microsoft JhengHei"/>
              <a:buNone/>
            </a:pPr>
            <a:r>
              <a:rPr b="1" i="0" lang="zh-TW" sz="1000" u="none" cap="none" strike="noStrike">
                <a:solidFill>
                  <a:srgbClr val="3D5A8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課後</a:t>
            </a:r>
            <a:endParaRPr sz="1100"/>
          </a:p>
        </p:txBody>
      </p:sp>
      <p:sp>
        <p:nvSpPr>
          <p:cNvPr id="517" name="Google Shape;517;p77"/>
          <p:cNvSpPr txBox="1"/>
          <p:nvPr/>
        </p:nvSpPr>
        <p:spPr>
          <a:xfrm>
            <a:off x="583537" y="582930"/>
            <a:ext cx="78264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2300"/>
              <a:buFont typeface="Microsoft JhengHei"/>
              <a:buNone/>
            </a:pP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</a:t>
            </a:r>
            <a:r>
              <a:rPr b="1" lang="zh-TW" sz="23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用當前的AI去做開發</a:t>
            </a:r>
            <a:endParaRPr b="1" sz="2300"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18" name="Google Shape;518;p77"/>
          <p:cNvSpPr txBox="1"/>
          <p:nvPr/>
        </p:nvSpPr>
        <p:spPr>
          <a:xfrm>
            <a:off x="1578075" y="2081848"/>
            <a:ext cx="76203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300" lIns="34300" spcFirstLastPara="1" rIns="34300" wrap="square" tIns="343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1E2E"/>
              </a:buClr>
              <a:buSzPts val="1400"/>
              <a:buFont typeface="Microsoft JhengHei"/>
              <a:buNone/>
            </a:pPr>
            <a:r>
              <a:rPr lang="zh-TW" sz="2200">
                <a:solidFill>
                  <a:srgbClr val="1E1E2E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假設...... 我不想要再跟ai對話複製貼上程式碼......</a:t>
            </a:r>
            <a:endParaRPr sz="2200"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E1E2E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