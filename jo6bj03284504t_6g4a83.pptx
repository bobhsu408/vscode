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8" r:id="rId5"/>
    <p:sldMasterId id="214748366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Lee Devlin"/>
  <p:cmAuthor clrIdx="1" id="1" initials="" lastIdx="1" name="man old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80" Type="http://schemas.openxmlformats.org/officeDocument/2006/relationships/slide" Target="slides/slide73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31" Type="http://schemas.openxmlformats.org/officeDocument/2006/relationships/slide" Target="slides/slide24.xml"/><Relationship Id="rId75" Type="http://schemas.openxmlformats.org/officeDocument/2006/relationships/slide" Target="slides/slide68.xml"/><Relationship Id="rId30" Type="http://schemas.openxmlformats.org/officeDocument/2006/relationships/slide" Target="slides/slide23.xml"/><Relationship Id="rId74" Type="http://schemas.openxmlformats.org/officeDocument/2006/relationships/slide" Target="slides/slide67.xml"/><Relationship Id="rId33" Type="http://schemas.openxmlformats.org/officeDocument/2006/relationships/slide" Target="slides/slide26.xml"/><Relationship Id="rId77" Type="http://schemas.openxmlformats.org/officeDocument/2006/relationships/slide" Target="slides/slide70.xml"/><Relationship Id="rId32" Type="http://schemas.openxmlformats.org/officeDocument/2006/relationships/slide" Target="slides/slide25.xml"/><Relationship Id="rId76" Type="http://schemas.openxmlformats.org/officeDocument/2006/relationships/slide" Target="slides/slide69.xml"/><Relationship Id="rId35" Type="http://schemas.openxmlformats.org/officeDocument/2006/relationships/slide" Target="slides/slide28.xml"/><Relationship Id="rId79" Type="http://schemas.openxmlformats.org/officeDocument/2006/relationships/slide" Target="slides/slide72.xml"/><Relationship Id="rId34" Type="http://schemas.openxmlformats.org/officeDocument/2006/relationships/slide" Target="slides/slide27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22" Type="http://schemas.openxmlformats.org/officeDocument/2006/relationships/slide" Target="slides/slide15.xml"/><Relationship Id="rId66" Type="http://schemas.openxmlformats.org/officeDocument/2006/relationships/slide" Target="slides/slide59.xml"/><Relationship Id="rId21" Type="http://schemas.openxmlformats.org/officeDocument/2006/relationships/slide" Target="slides/slide14.xml"/><Relationship Id="rId65" Type="http://schemas.openxmlformats.org/officeDocument/2006/relationships/slide" Target="slides/slide58.xml"/><Relationship Id="rId24" Type="http://schemas.openxmlformats.org/officeDocument/2006/relationships/slide" Target="slides/slide17.xml"/><Relationship Id="rId68" Type="http://schemas.openxmlformats.org/officeDocument/2006/relationships/slide" Target="slides/slide61.xml"/><Relationship Id="rId23" Type="http://schemas.openxmlformats.org/officeDocument/2006/relationships/slide" Target="slides/slide16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slide" Target="slides/slide6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9-19T11:56:20.841">
    <p:pos x="173" y="729"/>
    <p:text>可以加一些基礎的knowledge,例如補充agent跟llm的區別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9-19T11:58:59.558">
    <p:pos x="3290" y="719"/>
    <p:text>可以講一下要有認證的插件比較安全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1" dt="2026-09-19T12:46:58.131">
    <p:pos x="6000" y="0"/>
    <p:text>https://antigravity-course-materials.vercel.app/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a9482d153_3_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fa9482d153_3_40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625eb5a37b48cd4a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h625eb5a37b48cd4a_0_0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h69eead5e93ca4ef3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h69eead5e93ca4ef3_0_0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a9482d153_3_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fa9482d153_3_48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a9482d153_3_5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fa9482d153_3_55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409f7bf90bf_5_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409f7bf90bf_5_8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409f7bf90bf_5_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409f7bf90bf_5_16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a9482d153_3_6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fa9482d153_3_62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409f7bf90bf_5_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409f7bf90bf_5_45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409f7bf90bf_5_5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409f7bf90bf_5_56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409f7bf90bf_5_6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409f7bf90bf_5_64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409f7bf90bf_5_7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409f7bf90bf_5_72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409f7bf90bf_5_8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409f7bf90bf_5_80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409f7bf90bf_5_8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409f7bf90bf_5_88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a9482d153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fa9482d153_0_0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h69eead5e93ca4ef3_0_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h69eead5e93ca4ef3_0_11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a9482d153_3_1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fa9482d153_3_139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409f7bf90bf_5_10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409f7bf90bf_5_100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409f7bf90bf_5_1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409f7bf90bf_5_118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a9482d153_0_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fa9482d153_0_38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a9482d153_3_10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fa9482d153_3_100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a9482d153_0_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fa9482d153_0_24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a9482d153_0_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fa9482d153_0_32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a9482d153_0_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fa9482d153_0_58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a9482d153_0_6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fa9482d153_0_69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fa9482d153_0_7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fa9482d153_0_76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fa9482d153_0_10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fa9482d153_0_100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fa9482d153_0_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fa9482d153_0_44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a9482d153_0_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fa9482d153_0_51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fa9482d153_0_10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fa9482d153_0_108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fa9482d153_0_1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fa9482d153_0_113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fa9482d153_0_1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fa9482d153_0_120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fa9482d153_0_1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fa9482d153_0_126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fa9482d153_0_1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fa9482d153_0_140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fa9482d153_3_1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fa9482d153_3_115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fa9482d153_0_15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fa9482d153_0_153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fa9482d153_0_16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fa9482d153_0_162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fa9482d153_0_16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fa9482d153_0_167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fa9482d153_3_1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3fa9482d153_3_148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fa9482d153_0_18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g3fa9482d153_0_185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fa9482d153_0_2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g3fa9482d153_0_216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fa9482d153_0_19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g3fa9482d153_0_191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fa9482d153_0_19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g3fa9482d153_0_197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fa9482d153_0_20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g3fa9482d153_0_203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fa9482d153_3_16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fa9482d153_3_163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fa9482d153_3_18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g3fa9482d153_3_182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faa0981108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g3faa0981108_0_0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faa0981108_0_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g3faa0981108_0_8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faa0981108_0_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g3faa0981108_0_21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fa9482d153_3_18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g3fa9482d153_3_188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fa9482d153_0_2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g3fa9482d153_0_233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409f7bf90bf_5_16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g409f7bf90bf_5_164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409f7bf90bf_5_17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g409f7bf90bf_5_174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409f7bf90bf_5_18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g409f7bf90bf_5_184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409f7bf90bf_5_19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g409f7bf90bf_5_199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fa9482d153_0_29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g3fa9482d153_0_295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faa0981108_0_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g3faa0981108_0_34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faa0981108_0_5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g3faa0981108_0_50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faa0981108_0_6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g3faa0981108_0_60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faa0981108_0_6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g3faa0981108_0_68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faa0981108_0_7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g3faa0981108_0_76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faa0981108_0_8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g3faa0981108_0_85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fa9482d153_3_20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g3fa9482d153_3_200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fa9482d153_3_2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g3fa9482d153_3_242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h69eead5e93ca4ef3_0_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h69eead5e93ca4ef3_0_20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h69eead5e93ca4ef3_0_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h69eead5e93ca4ef3_0_38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h69eead5e93ca4ef3_0_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h69eead5e93ca4ef3_0_30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h69eead5e93ca4ef3_0_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h69eead5e93ca4ef3_0_49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h69eead5e93ca4ef3_0_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h69eead5e93ca4ef3_0_58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h69eead5e93ca4ef3_0_6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h69eead5e93ca4ef3_0_67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409f7bf90bf_5_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g409f7bf90bf_5_24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409f7bf90bf_5_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g409f7bf90bf_5_32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409f7bf90bf_5_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g409f7bf90bf_5_38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6327723" y="4811070"/>
            <a:ext cx="194170" cy="18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title"/>
          </p:nvPr>
        </p:nvSpPr>
        <p:spPr>
          <a:xfrm>
            <a:off x="514886" y="1597819"/>
            <a:ext cx="5835379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" type="body"/>
          </p:nvPr>
        </p:nvSpPr>
        <p:spPr>
          <a:xfrm>
            <a:off x="1029773" y="2914650"/>
            <a:ext cx="4805606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indent="-228600" lvl="2" marL="1371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indent="-228600" lvl="3" marL="1828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indent="-228600" lvl="4" marL="22860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2" type="sldNum"/>
          </p:nvPr>
        </p:nvSpPr>
        <p:spPr>
          <a:xfrm>
            <a:off x="6327723" y="4811070"/>
            <a:ext cx="194170" cy="18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343258" y="205978"/>
            <a:ext cx="6178636" cy="857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343258" y="1200150"/>
            <a:ext cx="6178636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2" type="sldNum"/>
          </p:nvPr>
        </p:nvSpPr>
        <p:spPr>
          <a:xfrm>
            <a:off x="6327723" y="4811070"/>
            <a:ext cx="194170" cy="18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/>
          <p:nvPr>
            <p:ph type="title"/>
          </p:nvPr>
        </p:nvSpPr>
        <p:spPr>
          <a:xfrm>
            <a:off x="542299" y="3305175"/>
            <a:ext cx="5835379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  <a:defRPr b="1" sz="3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" type="body"/>
          </p:nvPr>
        </p:nvSpPr>
        <p:spPr>
          <a:xfrm>
            <a:off x="542299" y="2180035"/>
            <a:ext cx="5835379" cy="1125141"/>
          </a:xfrm>
          <a:prstGeom prst="rect">
            <a:avLst/>
          </a:prstGeom>
          <a:noFill/>
          <a:ln>
            <a:noFill/>
          </a:ln>
        </p:spPr>
        <p:txBody>
          <a:bodyPr anchorCtr="0" anchor="b" bIns="34300" lIns="34300" spcFirstLastPara="1" rIns="34300" wrap="square" tIns="343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Calibri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Calibri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Calibri"/>
              <a:buNone/>
              <a:defRPr sz="15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Calibri"/>
              <a:buNone/>
              <a:defRPr sz="15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Calibri"/>
              <a:buNone/>
              <a:defRPr sz="1500">
                <a:solidFill>
                  <a:srgbClr val="888888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327723" y="4811070"/>
            <a:ext cx="194170" cy="18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343258" y="205978"/>
            <a:ext cx="6178636" cy="857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>
            <a:off x="343258" y="1200150"/>
            <a:ext cx="3032108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/>
            </a:lvl1pPr>
            <a:lvl2pPr indent="-36195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–"/>
              <a:defRPr sz="2100"/>
            </a:lvl2pPr>
            <a:lvl3pPr indent="-3619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/>
            </a:lvl3pPr>
            <a:lvl4pPr indent="-3619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–"/>
              <a:defRPr sz="2100"/>
            </a:lvl4pPr>
            <a:lvl5pPr indent="-3619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Char char="»"/>
              <a:defRPr sz="21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6327723" y="4811070"/>
            <a:ext cx="194170" cy="18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343258" y="205978"/>
            <a:ext cx="6178636" cy="857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>
            <a:off x="343258" y="1151334"/>
            <a:ext cx="303330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300" lIns="34300" spcFirstLastPara="1" rIns="34300" wrap="square" tIns="343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1" sz="18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1" sz="18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1" sz="18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2" type="body"/>
          </p:nvPr>
        </p:nvSpPr>
        <p:spPr>
          <a:xfrm>
            <a:off x="3487401" y="1151334"/>
            <a:ext cx="303449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300" lIns="34300" spcFirstLastPara="1" rIns="34300" wrap="square" tIns="3430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6327723" y="4811070"/>
            <a:ext cx="194170" cy="18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343258" y="205978"/>
            <a:ext cx="6178636" cy="857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327723" y="4811070"/>
            <a:ext cx="194170" cy="18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/>
          <p:nvPr>
            <p:ph type="title"/>
          </p:nvPr>
        </p:nvSpPr>
        <p:spPr>
          <a:xfrm>
            <a:off x="343258" y="204788"/>
            <a:ext cx="2258588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300" lIns="34300" spcFirstLastPara="1" rIns="34300" wrap="square" tIns="343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  <a:defRPr b="1"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" type="body"/>
          </p:nvPr>
        </p:nvSpPr>
        <p:spPr>
          <a:xfrm>
            <a:off x="2684083" y="204788"/>
            <a:ext cx="383781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2" type="body"/>
          </p:nvPr>
        </p:nvSpPr>
        <p:spPr>
          <a:xfrm>
            <a:off x="343257" y="1076325"/>
            <a:ext cx="2258589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12" type="sldNum"/>
          </p:nvPr>
        </p:nvSpPr>
        <p:spPr>
          <a:xfrm>
            <a:off x="6327723" y="4811070"/>
            <a:ext cx="194170" cy="18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type="title"/>
          </p:nvPr>
        </p:nvSpPr>
        <p:spPr>
          <a:xfrm>
            <a:off x="1345618" y="3600450"/>
            <a:ext cx="4119091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300" lIns="34300" spcFirstLastPara="1" rIns="34300" wrap="square" tIns="343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  <a:defRPr b="1"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87" name="Google Shape;87;p22"/>
          <p:cNvSpPr/>
          <p:nvPr>
            <p:ph idx="2" type="pic"/>
          </p:nvPr>
        </p:nvSpPr>
        <p:spPr>
          <a:xfrm>
            <a:off x="1345618" y="459581"/>
            <a:ext cx="4119091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22"/>
          <p:cNvSpPr txBox="1"/>
          <p:nvPr>
            <p:ph idx="1" type="body"/>
          </p:nvPr>
        </p:nvSpPr>
        <p:spPr>
          <a:xfrm>
            <a:off x="1345618" y="4025503"/>
            <a:ext cx="4119091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sz="11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sz="11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12" type="sldNum"/>
          </p:nvPr>
        </p:nvSpPr>
        <p:spPr>
          <a:xfrm>
            <a:off x="6327723" y="4811070"/>
            <a:ext cx="194170" cy="18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0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69056"/>
            <a:ext cx="8229600" cy="1131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»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327723" y="4811070"/>
            <a:ext cx="194170" cy="18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meet.google.com/kaj-znro-ard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comments" Target="../comments/comment1.xml"/><Relationship Id="rId4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comments" Target="../comments/comment2.xml"/><Relationship Id="rId4" Type="http://schemas.openxmlformats.org/officeDocument/2006/relationships/image" Target="../media/image5.png"/><Relationship Id="rId5" Type="http://schemas.openxmlformats.org/officeDocument/2006/relationships/image" Target="../media/image17.png"/><Relationship Id="rId6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7.png"/><Relationship Id="rId4" Type="http://schemas.openxmlformats.org/officeDocument/2006/relationships/image" Target="../media/image2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9.png"/><Relationship Id="rId4" Type="http://schemas.openxmlformats.org/officeDocument/2006/relationships/image" Target="../media/image3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0.png"/><Relationship Id="rId4" Type="http://schemas.openxmlformats.org/officeDocument/2006/relationships/image" Target="../media/image3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3.png"/><Relationship Id="rId4" Type="http://schemas.openxmlformats.org/officeDocument/2006/relationships/image" Target="../media/image4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6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3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2.png"/><Relationship Id="rId4" Type="http://schemas.openxmlformats.org/officeDocument/2006/relationships/image" Target="../media/image44.png"/><Relationship Id="rId5" Type="http://schemas.openxmlformats.org/officeDocument/2006/relationships/image" Target="../media/image42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67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9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2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7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0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5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5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3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8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0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1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50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54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6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2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69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3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3.xml"/><Relationship Id="rId3" Type="http://schemas.openxmlformats.org/officeDocument/2006/relationships/comments" Target="../comments/comment3.xml"/><Relationship Id="rId4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-1" y="0"/>
            <a:ext cx="123574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3"/>
          <p:cNvSpPr txBox="1"/>
          <p:nvPr/>
        </p:nvSpPr>
        <p:spPr>
          <a:xfrm>
            <a:off x="559479" y="437075"/>
            <a:ext cx="52482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3000"/>
              <a:buFont typeface="Microsoft JhengHei"/>
              <a:buNone/>
            </a:pPr>
            <a:r>
              <a:rPr b="1" lang="zh-TW" sz="30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Antigravity IDE</a:t>
            </a:r>
            <a:endParaRPr b="1" sz="2300"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30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(Google 工作坊)</a:t>
            </a:r>
            <a:endParaRPr b="1" sz="2300"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6" name="Google Shape;96;p23"/>
          <p:cNvSpPr txBox="1"/>
          <p:nvPr/>
        </p:nvSpPr>
        <p:spPr>
          <a:xfrm>
            <a:off x="626812" y="2340788"/>
            <a:ext cx="62031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Microsoft JhengHei"/>
              <a:buNone/>
            </a:pPr>
            <a:r>
              <a:rPr b="0" i="0" lang="zh-TW" sz="1800" u="none" cap="none" strike="noStrike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從零安裝到能寫、能跑、能用終端機與 Git 的基本</a:t>
            </a:r>
            <a:r>
              <a:rPr lang="zh-TW" sz="18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方式</a:t>
            </a:r>
            <a:endParaRPr sz="1800">
              <a:solidFill>
                <a:srgbClr val="6B728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Microsoft JhengHei"/>
              <a:buNone/>
            </a:pPr>
            <a:r>
              <a:rPr lang="zh-TW" sz="18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面向客群：有電腦操作能力，未用 VS Code 寫過程式</a:t>
            </a:r>
            <a:endParaRPr sz="1100"/>
          </a:p>
        </p:txBody>
      </p:sp>
      <p:pic>
        <p:nvPicPr>
          <p:cNvPr id="97" name="Google Shape;9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8148" y="1806238"/>
            <a:ext cx="1874512" cy="1874511"/>
          </a:xfrm>
          <a:prstGeom prst="rect">
            <a:avLst/>
          </a:prstGeom>
          <a:noFill/>
          <a:ln>
            <a:noFill/>
          </a:ln>
          <a:effectLst>
            <a:reflection blurRad="0" dir="0" dist="0" endA="0" endPos="34000" fadeDir="5400012" kx="0" rotWithShape="0" algn="bl" stPos="0" sy="-100000" ky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4"/>
          <p:cNvSpPr txBox="1"/>
          <p:nvPr/>
        </p:nvSpPr>
        <p:spPr>
          <a:xfrm>
            <a:off x="559479" y="437075"/>
            <a:ext cx="52482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3000"/>
              <a:buFont typeface="Microsoft JhengHei"/>
              <a:buNone/>
            </a:pPr>
            <a:r>
              <a:rPr b="1" lang="zh-TW" sz="30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講師： 許博庭</a:t>
            </a:r>
            <a:endParaRPr b="1" sz="2300"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" name="Google Shape;104;p24"/>
          <p:cNvSpPr txBox="1"/>
          <p:nvPr/>
        </p:nvSpPr>
        <p:spPr>
          <a:xfrm>
            <a:off x="559475" y="1182850"/>
            <a:ext cx="4846800" cy="3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Microsoft JhengHei"/>
              <a:buNone/>
            </a:pPr>
            <a:r>
              <a:rPr lang="zh-TW" sz="18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就讀國立臺北商業大學 資訊管理系 大四</a:t>
            </a:r>
            <a:endParaRPr sz="1800">
              <a:solidFill>
                <a:srgbClr val="6B728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Microsoft JhengHei"/>
              <a:buNone/>
            </a:pPr>
            <a:r>
              <a:t/>
            </a:r>
            <a:endParaRPr sz="1800">
              <a:solidFill>
                <a:srgbClr val="6B728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Microsoft JhengHei"/>
              <a:buNone/>
            </a:pPr>
            <a:r>
              <a:rPr lang="zh-TW" sz="18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現任</a:t>
            </a:r>
            <a:r>
              <a:rPr lang="zh-TW" sz="18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商業智慧研究中心 系統網路助理工程師</a:t>
            </a:r>
            <a:endParaRPr sz="1800">
              <a:solidFill>
                <a:srgbClr val="6B728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Microsoft JhengHei"/>
              <a:buNone/>
            </a:pPr>
            <a:r>
              <a:t/>
            </a:r>
            <a:endParaRPr sz="1800">
              <a:solidFill>
                <a:srgbClr val="6B728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Microsoft JhengHei"/>
              <a:buNone/>
            </a:pPr>
            <a:r>
              <a:t/>
            </a:r>
            <a:endParaRPr sz="1800">
              <a:solidFill>
                <a:srgbClr val="6B728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Microsoft JhengHei"/>
              <a:buNone/>
            </a:pPr>
            <a:r>
              <a:t/>
            </a:r>
            <a:endParaRPr sz="1800">
              <a:solidFill>
                <a:srgbClr val="6B728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Microsoft JhengHei"/>
              <a:buNone/>
            </a:pPr>
            <a:r>
              <a:t/>
            </a:r>
            <a:endParaRPr sz="1800">
              <a:solidFill>
                <a:srgbClr val="6B728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Microsoft JhengHei"/>
              <a:buNone/>
            </a:pPr>
            <a:r>
              <a:t/>
            </a:r>
            <a:endParaRPr sz="1800">
              <a:solidFill>
                <a:srgbClr val="6B728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Microsoft JhengHei"/>
              <a:buNone/>
            </a:pPr>
            <a:r>
              <a:t/>
            </a:r>
            <a:endParaRPr sz="1800">
              <a:solidFill>
                <a:srgbClr val="6B728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Microsoft JhengHei"/>
              <a:buNone/>
            </a:pPr>
            <a:r>
              <a:rPr lang="zh-TW" sz="18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證照：RHCSA,</a:t>
            </a:r>
            <a:endParaRPr sz="1800">
              <a:solidFill>
                <a:srgbClr val="6B728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Microsoft JhengHei"/>
              <a:buNone/>
            </a:pPr>
            <a:r>
              <a:rPr lang="zh-TW" sz="18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      ITS(Python),</a:t>
            </a:r>
            <a:endParaRPr sz="1800">
              <a:solidFill>
                <a:srgbClr val="6B728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Microsoft JhengHei"/>
              <a:buNone/>
            </a:pPr>
            <a:r>
              <a:rPr lang="zh-TW" sz="18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	    室內配線丙級</a:t>
            </a:r>
            <a:endParaRPr sz="1800">
              <a:solidFill>
                <a:srgbClr val="6B728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7023" y="2571738"/>
            <a:ext cx="1874512" cy="1874511"/>
          </a:xfrm>
          <a:prstGeom prst="rect">
            <a:avLst/>
          </a:prstGeom>
          <a:noFill/>
          <a:ln>
            <a:noFill/>
          </a:ln>
          <a:effectLst>
            <a:reflection blurRad="0" dir="0" dist="0" endA="0" endPos="34000" fadeDir="5400012" kx="0" rotWithShape="0" algn="bl" stPos="0" sy="-100000" ky="0"/>
          </a:effectLst>
        </p:spPr>
      </p:pic>
      <p:pic>
        <p:nvPicPr>
          <p:cNvPr id="106" name="Google Shape;106;p24"/>
          <p:cNvPicPr preferRelativeResize="0"/>
          <p:nvPr/>
        </p:nvPicPr>
        <p:blipFill rotWithShape="1">
          <a:blip r:embed="rId4">
            <a:alphaModFix/>
          </a:blip>
          <a:srcRect b="3350" l="-1500" r="1500" t="-3350"/>
          <a:stretch/>
        </p:blipFill>
        <p:spPr>
          <a:xfrm>
            <a:off x="5954450" y="228275"/>
            <a:ext cx="2133600" cy="2267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5"/>
          <p:cNvSpPr txBox="1"/>
          <p:nvPr/>
        </p:nvSpPr>
        <p:spPr>
          <a:xfrm>
            <a:off x="559479" y="437075"/>
            <a:ext cx="52482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3000"/>
              <a:buFont typeface="Microsoft JhengHei"/>
              <a:buNone/>
            </a:pPr>
            <a:r>
              <a:rPr b="1" lang="zh-TW" sz="30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連結</a:t>
            </a:r>
            <a:r>
              <a:rPr b="1" lang="zh-TW" sz="30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 google meet</a:t>
            </a:r>
            <a:endParaRPr b="1" sz="3000"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3" name="Google Shape;113;p25"/>
          <p:cNvSpPr txBox="1"/>
          <p:nvPr/>
        </p:nvSpPr>
        <p:spPr>
          <a:xfrm>
            <a:off x="559475" y="1182850"/>
            <a:ext cx="4846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Microsoft JhengHei"/>
              <a:buNone/>
            </a:pPr>
            <a:r>
              <a:rPr lang="zh-TW" sz="1800" u="sng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3"/>
              </a:rPr>
              <a:t>https://meet.google.com/kaj-znro-ard</a:t>
            </a:r>
            <a:endParaRPr sz="1800">
              <a:solidFill>
                <a:srgbClr val="6B728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114" name="Google Shape;11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7023" y="2571738"/>
            <a:ext cx="1874512" cy="1874511"/>
          </a:xfrm>
          <a:prstGeom prst="rect">
            <a:avLst/>
          </a:prstGeom>
          <a:noFill/>
          <a:ln>
            <a:noFill/>
          </a:ln>
          <a:effectLst>
            <a:reflection blurRad="0" dir="0" dist="0" endA="0" endPos="34000" fadeDir="5400012" kx="0" rotWithShape="0" algn="bl" stPos="0" sy="-100000" ky="0"/>
          </a:effectLst>
        </p:spPr>
      </p:pic>
      <p:pic>
        <p:nvPicPr>
          <p:cNvPr id="115" name="Google Shape;115;p25" title="images.jpg"/>
          <p:cNvPicPr preferRelativeResize="0"/>
          <p:nvPr/>
        </p:nvPicPr>
        <p:blipFill rotWithShape="1">
          <a:blip r:embed="rId5">
            <a:alphaModFix/>
          </a:blip>
          <a:srcRect b="0" l="2955" r="2945" t="0"/>
          <a:stretch/>
        </p:blipFill>
        <p:spPr>
          <a:xfrm>
            <a:off x="5954450" y="228275"/>
            <a:ext cx="2133600" cy="2267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6"/>
          <p:cNvSpPr/>
          <p:nvPr/>
        </p:nvSpPr>
        <p:spPr>
          <a:xfrm>
            <a:off x="-1" y="0"/>
            <a:ext cx="123574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6"/>
          <p:cNvSpPr txBox="1"/>
          <p:nvPr/>
        </p:nvSpPr>
        <p:spPr>
          <a:xfrm>
            <a:off x="583537" y="582930"/>
            <a:ext cx="7826273" cy="4686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今天的路線圖</a:t>
            </a:r>
            <a:endParaRPr sz="1100"/>
          </a:p>
        </p:txBody>
      </p:sp>
      <p:sp>
        <p:nvSpPr>
          <p:cNvPr id="122" name="Google Shape;122;p26"/>
          <p:cNvSpPr txBox="1"/>
          <p:nvPr/>
        </p:nvSpPr>
        <p:spPr>
          <a:xfrm>
            <a:off x="652189" y="1303020"/>
            <a:ext cx="7620300" cy="3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安裝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Antigravity IDE是什麼？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繁體中文化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開啟資料夾＝專案，瀏覽自己的檔案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在 Antigravity 裡打開 txt / PPT 文件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個性化：換主題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建立與儲存檔案、開啟 Auto Save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介面五大分區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休息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安裝 Python 擴充套件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實作：用 AI 做一個終端機小遊戲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實作：利用編輯器製作個人介紹卡片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Git 基礎：存檔的存檔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部屬服務Vercel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課後自我檢查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7"/>
          <p:cNvSpPr/>
          <p:nvPr/>
        </p:nvSpPr>
        <p:spPr>
          <a:xfrm>
            <a:off x="-1" y="0"/>
            <a:ext cx="123574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7"/>
          <p:cNvSpPr txBox="1"/>
          <p:nvPr/>
        </p:nvSpPr>
        <p:spPr>
          <a:xfrm>
            <a:off x="583537" y="582930"/>
            <a:ext cx="7826273" cy="4686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下載與安裝</a:t>
            </a:r>
            <a:endParaRPr sz="1100"/>
          </a:p>
        </p:txBody>
      </p:sp>
      <p:sp>
        <p:nvSpPr>
          <p:cNvPr id="129" name="Google Shape;129;p27"/>
          <p:cNvSpPr txBox="1"/>
          <p:nvPr/>
        </p:nvSpPr>
        <p:spPr>
          <a:xfrm>
            <a:off x="652189" y="1303020"/>
            <a:ext cx="76203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-13970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1600"/>
              <a:buFont typeface="Microsoft JhengHei"/>
              <a:buChar char="•"/>
            </a:pPr>
            <a:r>
              <a:rPr b="0" i="0" lang="zh-TW" sz="16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官網下載對應版本</a:t>
            </a:r>
            <a:endParaRPr sz="1100"/>
          </a:p>
        </p:txBody>
      </p:sp>
      <p:pic>
        <p:nvPicPr>
          <p:cNvPr id="130" name="Google Shape;13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0586" y="1792520"/>
            <a:ext cx="7362825" cy="186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8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8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下載與安裝</a:t>
            </a:r>
            <a:endParaRPr sz="1100"/>
          </a:p>
        </p:txBody>
      </p:sp>
      <p:pic>
        <p:nvPicPr>
          <p:cNvPr id="137" name="Google Shape;13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1796" y="1006225"/>
            <a:ext cx="4706299" cy="338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9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9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下載與安裝</a:t>
            </a:r>
            <a:endParaRPr sz="1100"/>
          </a:p>
        </p:txBody>
      </p:sp>
      <p:sp>
        <p:nvSpPr>
          <p:cNvPr id="144" name="Google Shape;144;p29"/>
          <p:cNvSpPr txBox="1"/>
          <p:nvPr/>
        </p:nvSpPr>
        <p:spPr>
          <a:xfrm>
            <a:off x="652189" y="1303020"/>
            <a:ext cx="76203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-13970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1600"/>
              <a:buFont typeface="Microsoft JhengHei"/>
              <a:buChar char="•"/>
            </a:pPr>
            <a:r>
              <a:rPr lang="zh-TW" sz="16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建議五個偷要勾</a:t>
            </a:r>
            <a:endParaRPr sz="1100"/>
          </a:p>
        </p:txBody>
      </p:sp>
      <p:pic>
        <p:nvPicPr>
          <p:cNvPr id="145" name="Google Shape;14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5087" y="1618625"/>
            <a:ext cx="4783275" cy="3443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0"/>
          <p:cNvSpPr/>
          <p:nvPr/>
        </p:nvSpPr>
        <p:spPr>
          <a:xfrm>
            <a:off x="-1" y="0"/>
            <a:ext cx="123574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0"/>
          <p:cNvSpPr txBox="1"/>
          <p:nvPr/>
        </p:nvSpPr>
        <p:spPr>
          <a:xfrm>
            <a:off x="583537" y="582930"/>
            <a:ext cx="7826273" cy="4686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下載與安裝</a:t>
            </a:r>
            <a:endParaRPr sz="1100"/>
          </a:p>
        </p:txBody>
      </p:sp>
      <p:sp>
        <p:nvSpPr>
          <p:cNvPr id="152" name="Google Shape;152;p30"/>
          <p:cNvSpPr txBox="1"/>
          <p:nvPr/>
        </p:nvSpPr>
        <p:spPr>
          <a:xfrm>
            <a:off x="652189" y="1303020"/>
            <a:ext cx="76203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-13970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1600"/>
              <a:buFont typeface="Microsoft JhengHei"/>
              <a:buChar char="•"/>
            </a:pPr>
            <a:r>
              <a:rPr lang="zh-TW" sz="16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登入帳戶(建議不要使用學校帳號)</a:t>
            </a:r>
            <a:endParaRPr sz="1100"/>
          </a:p>
        </p:txBody>
      </p:sp>
      <p:pic>
        <p:nvPicPr>
          <p:cNvPr id="153" name="Google Shape;153;p30"/>
          <p:cNvPicPr preferRelativeResize="0"/>
          <p:nvPr/>
        </p:nvPicPr>
        <p:blipFill rotWithShape="1">
          <a:blip r:embed="rId3">
            <a:alphaModFix/>
          </a:blip>
          <a:srcRect b="0" l="0" r="7579" t="0"/>
          <a:stretch/>
        </p:blipFill>
        <p:spPr>
          <a:xfrm>
            <a:off x="4807325" y="321975"/>
            <a:ext cx="2927932" cy="4821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1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下載與安裝</a:t>
            </a:r>
            <a:endParaRPr sz="1100"/>
          </a:p>
        </p:txBody>
      </p:sp>
      <p:sp>
        <p:nvSpPr>
          <p:cNvPr id="160" name="Google Shape;160;p31"/>
          <p:cNvSpPr txBox="1"/>
          <p:nvPr/>
        </p:nvSpPr>
        <p:spPr>
          <a:xfrm>
            <a:off x="652189" y="1303020"/>
            <a:ext cx="76203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-13970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1600"/>
              <a:buFont typeface="Microsoft JhengHei"/>
              <a:buChar char="•"/>
            </a:pPr>
            <a:r>
              <a:rPr lang="zh-TW" sz="16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詢問是否要從頭開始安裝</a:t>
            </a:r>
            <a:endParaRPr sz="1100"/>
          </a:p>
        </p:txBody>
      </p:sp>
      <p:pic>
        <p:nvPicPr>
          <p:cNvPr id="161" name="Google Shape;16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2499" y="1618620"/>
            <a:ext cx="3138998" cy="3220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2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2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下載與安裝</a:t>
            </a:r>
            <a:endParaRPr sz="1100"/>
          </a:p>
        </p:txBody>
      </p:sp>
      <p:sp>
        <p:nvSpPr>
          <p:cNvPr id="168" name="Google Shape;168;p32"/>
          <p:cNvSpPr txBox="1"/>
          <p:nvPr/>
        </p:nvSpPr>
        <p:spPr>
          <a:xfrm>
            <a:off x="652189" y="1303020"/>
            <a:ext cx="76203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-13970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1600"/>
              <a:buFont typeface="Microsoft JhengHei"/>
              <a:buChar char="•"/>
            </a:pPr>
            <a:r>
              <a:rPr lang="zh-TW" sz="16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風格</a:t>
            </a:r>
            <a:endParaRPr sz="1100"/>
          </a:p>
        </p:txBody>
      </p:sp>
      <p:pic>
        <p:nvPicPr>
          <p:cNvPr id="169" name="Google Shape;16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0024" y="1726920"/>
            <a:ext cx="5911652" cy="3220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3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下載與安裝</a:t>
            </a:r>
            <a:endParaRPr sz="1100"/>
          </a:p>
        </p:txBody>
      </p:sp>
      <p:sp>
        <p:nvSpPr>
          <p:cNvPr id="176" name="Google Shape;176;p33"/>
          <p:cNvSpPr txBox="1"/>
          <p:nvPr/>
        </p:nvSpPr>
        <p:spPr>
          <a:xfrm>
            <a:off x="652189" y="1303020"/>
            <a:ext cx="76203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-13970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1600"/>
              <a:buFont typeface="Microsoft JhengHei"/>
              <a:buChar char="•"/>
            </a:pPr>
            <a:r>
              <a:rPr lang="zh-TW" sz="16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開發方式</a:t>
            </a:r>
            <a:endParaRPr sz="1100"/>
          </a:p>
        </p:txBody>
      </p:sp>
      <p:pic>
        <p:nvPicPr>
          <p:cNvPr id="177" name="Google Shape;17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0299" y="1576970"/>
            <a:ext cx="4459608" cy="3220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4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下載與安裝</a:t>
            </a:r>
            <a:endParaRPr sz="1100"/>
          </a:p>
        </p:txBody>
      </p:sp>
      <p:sp>
        <p:nvSpPr>
          <p:cNvPr id="184" name="Google Shape;184;p34"/>
          <p:cNvSpPr txBox="1"/>
          <p:nvPr/>
        </p:nvSpPr>
        <p:spPr>
          <a:xfrm>
            <a:off x="652189" y="1303020"/>
            <a:ext cx="76203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-13970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1600"/>
              <a:buFont typeface="Microsoft JhengHei"/>
              <a:buChar char="•"/>
            </a:pPr>
            <a:r>
              <a:rPr lang="zh-TW" sz="16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偏好編輯語言</a:t>
            </a:r>
            <a:endParaRPr sz="1100"/>
          </a:p>
        </p:txBody>
      </p:sp>
      <p:pic>
        <p:nvPicPr>
          <p:cNvPr id="185" name="Google Shape;18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9212" y="1691645"/>
            <a:ext cx="4986279" cy="3220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35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下載與安裝</a:t>
            </a:r>
            <a:endParaRPr sz="1100"/>
          </a:p>
        </p:txBody>
      </p:sp>
      <p:sp>
        <p:nvSpPr>
          <p:cNvPr id="192" name="Google Shape;192;p35"/>
          <p:cNvSpPr txBox="1"/>
          <p:nvPr/>
        </p:nvSpPr>
        <p:spPr>
          <a:xfrm>
            <a:off x="652189" y="1303020"/>
            <a:ext cx="76203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-13970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1600"/>
              <a:buFont typeface="Microsoft JhengHei"/>
              <a:buChar char="•"/>
            </a:pPr>
            <a:r>
              <a:rPr lang="zh-TW" sz="16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額外套件</a:t>
            </a:r>
            <a:endParaRPr sz="1100"/>
          </a:p>
        </p:txBody>
      </p:sp>
      <p:pic>
        <p:nvPicPr>
          <p:cNvPr id="193" name="Google Shape;19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0795" y="311615"/>
            <a:ext cx="3716550" cy="4520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6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6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下載與安裝</a:t>
            </a:r>
            <a:endParaRPr sz="1100"/>
          </a:p>
        </p:txBody>
      </p:sp>
      <p:sp>
        <p:nvSpPr>
          <p:cNvPr id="200" name="Google Shape;200;p36"/>
          <p:cNvSpPr txBox="1"/>
          <p:nvPr/>
        </p:nvSpPr>
        <p:spPr>
          <a:xfrm>
            <a:off x="652189" y="1303020"/>
            <a:ext cx="76203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只能同意了(0U0)</a:t>
            </a:r>
            <a:endParaRPr sz="1100"/>
          </a:p>
        </p:txBody>
      </p:sp>
      <p:pic>
        <p:nvPicPr>
          <p:cNvPr id="201" name="Google Shape;20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5924" y="481920"/>
            <a:ext cx="3811622" cy="3220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7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7"/>
          <p:cNvSpPr txBox="1"/>
          <p:nvPr/>
        </p:nvSpPr>
        <p:spPr>
          <a:xfrm>
            <a:off x="583537" y="582930"/>
            <a:ext cx="7826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30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Antigravity</a:t>
            </a: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？</a:t>
            </a:r>
            <a:endParaRPr sz="1100"/>
          </a:p>
        </p:txBody>
      </p:sp>
      <p:pic>
        <p:nvPicPr>
          <p:cNvPr id="208" name="Google Shape;208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999" y="1158630"/>
            <a:ext cx="8715599" cy="2044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8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8"/>
          <p:cNvSpPr txBox="1"/>
          <p:nvPr/>
        </p:nvSpPr>
        <p:spPr>
          <a:xfrm>
            <a:off x="583537" y="582930"/>
            <a:ext cx="7826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30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Agent and llm?</a:t>
            </a:r>
            <a:endParaRPr b="1" sz="2300"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215" name="Google Shape;21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7724" y="1288255"/>
            <a:ext cx="6858000" cy="321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9"/>
          <p:cNvSpPr/>
          <p:nvPr/>
        </p:nvSpPr>
        <p:spPr>
          <a:xfrm>
            <a:off x="-1" y="0"/>
            <a:ext cx="123574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9"/>
          <p:cNvSpPr txBox="1"/>
          <p:nvPr/>
        </p:nvSpPr>
        <p:spPr>
          <a:xfrm>
            <a:off x="573912" y="11658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繁體中文化（可選）</a:t>
            </a:r>
            <a:endParaRPr sz="1100"/>
          </a:p>
        </p:txBody>
      </p:sp>
      <p:sp>
        <p:nvSpPr>
          <p:cNvPr id="222" name="Google Shape;222;p39"/>
          <p:cNvSpPr txBox="1"/>
          <p:nvPr/>
        </p:nvSpPr>
        <p:spPr>
          <a:xfrm>
            <a:off x="618589" y="539870"/>
            <a:ext cx="76203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b="0" i="0" lang="zh-TW" sz="14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命令面板輸入 Configure Display Language</a:t>
            </a: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（Ctrl+Shift+P / Cmd+Shift+P)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b="0" i="0" lang="zh-TW" sz="14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安裝 Chinese (Traditional) Language Pack，重啟生效</a:t>
            </a:r>
            <a:endParaRPr sz="1100"/>
          </a:p>
        </p:txBody>
      </p:sp>
      <p:pic>
        <p:nvPicPr>
          <p:cNvPr id="223" name="Google Shape;22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975" y="1295275"/>
            <a:ext cx="7161999" cy="146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9975" y="1856875"/>
            <a:ext cx="6774025" cy="272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0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40"/>
          <p:cNvSpPr txBox="1"/>
          <p:nvPr/>
        </p:nvSpPr>
        <p:spPr>
          <a:xfrm>
            <a:off x="573912" y="11658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繁體中文化（可選）</a:t>
            </a:r>
            <a:endParaRPr sz="1100"/>
          </a:p>
        </p:txBody>
      </p:sp>
      <p:sp>
        <p:nvSpPr>
          <p:cNvPr id="231" name="Google Shape;231;p40"/>
          <p:cNvSpPr txBox="1"/>
          <p:nvPr/>
        </p:nvSpPr>
        <p:spPr>
          <a:xfrm>
            <a:off x="618589" y="539870"/>
            <a:ext cx="76203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b="0" i="0" lang="zh-TW" sz="14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命令面板輸入 Configure Display Language</a:t>
            </a: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（Ctrl+Shift+P / Cmd+Shift+P)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b="0" i="0" lang="zh-TW" sz="14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安裝 Chinese (Traditional) Language Pack，重啟生效</a:t>
            </a:r>
            <a:endParaRPr sz="1100"/>
          </a:p>
        </p:txBody>
      </p:sp>
      <p:pic>
        <p:nvPicPr>
          <p:cNvPr id="232" name="Google Shape;232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999" y="1180670"/>
            <a:ext cx="523875" cy="3524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0"/>
          <p:cNvSpPr/>
          <p:nvPr/>
        </p:nvSpPr>
        <p:spPr>
          <a:xfrm rot="3102794">
            <a:off x="4658156" y="2623636"/>
            <a:ext cx="417368" cy="884171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6D9EEB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40"/>
          <p:cNvSpPr/>
          <p:nvPr/>
        </p:nvSpPr>
        <p:spPr>
          <a:xfrm rot="-5982363">
            <a:off x="1566141" y="3720645"/>
            <a:ext cx="742022" cy="1127656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6D9EEB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08575" y="1316757"/>
            <a:ext cx="1900713" cy="3695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24125" y="1142875"/>
            <a:ext cx="3919875" cy="1564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40"/>
          <p:cNvSpPr/>
          <p:nvPr/>
        </p:nvSpPr>
        <p:spPr>
          <a:xfrm rot="-7783272">
            <a:off x="7484777" y="1744863"/>
            <a:ext cx="417337" cy="648343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6D9EEB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1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41"/>
          <p:cNvSpPr txBox="1"/>
          <p:nvPr/>
        </p:nvSpPr>
        <p:spPr>
          <a:xfrm>
            <a:off x="573912" y="11658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繁體中文化（可選）</a:t>
            </a:r>
            <a:endParaRPr sz="1100"/>
          </a:p>
        </p:txBody>
      </p:sp>
      <p:sp>
        <p:nvSpPr>
          <p:cNvPr id="244" name="Google Shape;244;p41"/>
          <p:cNvSpPr txBox="1"/>
          <p:nvPr/>
        </p:nvSpPr>
        <p:spPr>
          <a:xfrm>
            <a:off x="618589" y="539870"/>
            <a:ext cx="76203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b="0" i="0" lang="zh-TW" sz="14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命令面板輸入 Configure Display Language</a:t>
            </a: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（Ctrl+Shift+P / Cmd+Shift+P)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b="0" i="0" lang="zh-TW" sz="14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安裝 Chinese (Traditional) Language Pack，重啟生效</a:t>
            </a:r>
            <a:endParaRPr sz="1100"/>
          </a:p>
        </p:txBody>
      </p:sp>
      <p:pic>
        <p:nvPicPr>
          <p:cNvPr id="245" name="Google Shape;24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515" y="1613988"/>
            <a:ext cx="3289486" cy="213092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41"/>
          <p:cNvSpPr/>
          <p:nvPr/>
        </p:nvSpPr>
        <p:spPr>
          <a:xfrm rot="-7783272">
            <a:off x="2643527" y="2996413"/>
            <a:ext cx="417337" cy="648343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6D9EEB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" name="Google Shape;247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3373" y="2792600"/>
            <a:ext cx="4400300" cy="120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41"/>
          <p:cNvSpPr/>
          <p:nvPr/>
        </p:nvSpPr>
        <p:spPr>
          <a:xfrm rot="3005913">
            <a:off x="6473632" y="3425595"/>
            <a:ext cx="298378" cy="1224815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6D9EEB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2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42"/>
          <p:cNvSpPr txBox="1"/>
          <p:nvPr/>
        </p:nvSpPr>
        <p:spPr>
          <a:xfrm>
            <a:off x="533387" y="138905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初次啟動一覽</a:t>
            </a:r>
            <a:endParaRPr sz="1100"/>
          </a:p>
        </p:txBody>
      </p:sp>
      <p:pic>
        <p:nvPicPr>
          <p:cNvPr id="255" name="Google Shape;25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8600" y="528400"/>
            <a:ext cx="6366800" cy="449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3"/>
          <p:cNvSpPr/>
          <p:nvPr/>
        </p:nvSpPr>
        <p:spPr>
          <a:xfrm>
            <a:off x="-1" y="0"/>
            <a:ext cx="123574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43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「開啟資料夾」＝</a:t>
            </a: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Antigravity </a:t>
            </a: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裡的專案</a:t>
            </a:r>
            <a:endParaRPr sz="1100"/>
          </a:p>
        </p:txBody>
      </p:sp>
      <p:pic>
        <p:nvPicPr>
          <p:cNvPr id="262" name="Google Shape;26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0260" y="1182461"/>
            <a:ext cx="3829050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43"/>
          <p:cNvSpPr/>
          <p:nvPr/>
        </p:nvSpPr>
        <p:spPr>
          <a:xfrm rot="-4480306">
            <a:off x="3867723" y="2998862"/>
            <a:ext cx="742202" cy="1127564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6D9EEB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4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44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「開啟資料夾」＝ </a:t>
            </a: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Antigravity</a:t>
            </a: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裡的專案</a:t>
            </a:r>
            <a:endParaRPr sz="1100"/>
          </a:p>
        </p:txBody>
      </p:sp>
      <p:pic>
        <p:nvPicPr>
          <p:cNvPr id="270" name="Google Shape;27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0474" y="1006230"/>
            <a:ext cx="5430728" cy="3832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5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45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「開啟資料夾」＝ </a:t>
            </a: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Antigravity </a:t>
            </a: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裡的專案</a:t>
            </a:r>
            <a:endParaRPr sz="1100"/>
          </a:p>
        </p:txBody>
      </p:sp>
      <p:pic>
        <p:nvPicPr>
          <p:cNvPr id="277" name="Google Shape;27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6100" y="1201574"/>
            <a:ext cx="3695575" cy="326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6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46"/>
          <p:cNvSpPr txBox="1"/>
          <p:nvPr/>
        </p:nvSpPr>
        <p:spPr>
          <a:xfrm>
            <a:off x="1472928" y="1957875"/>
            <a:ext cx="65751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42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誒! 為啥你的這麼紅????</a:t>
            </a:r>
            <a:endParaRPr sz="3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7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47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如何個性化自己的Antigravity</a:t>
            </a:r>
            <a:endParaRPr sz="1100"/>
          </a:p>
        </p:txBody>
      </p:sp>
      <p:pic>
        <p:nvPicPr>
          <p:cNvPr id="290" name="Google Shape;29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8687" y="1172955"/>
            <a:ext cx="6066626" cy="326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8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48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如何個性化自己的</a:t>
            </a: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Antigravity</a:t>
            </a:r>
            <a:endParaRPr sz="1100"/>
          </a:p>
        </p:txBody>
      </p:sp>
      <p:pic>
        <p:nvPicPr>
          <p:cNvPr id="297" name="Google Shape;29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6749" y="1079855"/>
            <a:ext cx="7566443" cy="3832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9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49"/>
          <p:cNvSpPr txBox="1"/>
          <p:nvPr/>
        </p:nvSpPr>
        <p:spPr>
          <a:xfrm>
            <a:off x="3977650" y="2360100"/>
            <a:ext cx="21231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如何瀏覽檔案？</a:t>
            </a:r>
            <a:endParaRPr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0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50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打開“練習.txt”</a:t>
            </a:r>
            <a:endParaRPr sz="1100"/>
          </a:p>
        </p:txBody>
      </p:sp>
      <p:pic>
        <p:nvPicPr>
          <p:cNvPr id="310" name="Google Shape;31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8849" y="1158630"/>
            <a:ext cx="5432987" cy="3832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1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51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打開“</a:t>
            </a: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上課用ppt.pptx</a:t>
            </a: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”</a:t>
            </a:r>
            <a:endParaRPr sz="1100"/>
          </a:p>
        </p:txBody>
      </p:sp>
      <p:pic>
        <p:nvPicPr>
          <p:cNvPr id="317" name="Google Shape;317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1000" y="950950"/>
            <a:ext cx="5811443" cy="4099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2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52"/>
          <p:cNvSpPr txBox="1"/>
          <p:nvPr/>
        </p:nvSpPr>
        <p:spPr>
          <a:xfrm>
            <a:off x="1472928" y="1957875"/>
            <a:ext cx="65751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42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誒! 為啥</a:t>
            </a:r>
            <a:r>
              <a:rPr b="1" lang="zh-TW" sz="42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我的ppt打不開</a:t>
            </a:r>
            <a:endParaRPr sz="3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3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53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如何在Antigravity裡面開啟文件</a:t>
            </a:r>
            <a:endParaRPr sz="1100"/>
          </a:p>
        </p:txBody>
      </p:sp>
      <p:pic>
        <p:nvPicPr>
          <p:cNvPr id="330" name="Google Shape;33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1974" y="1072705"/>
            <a:ext cx="485775" cy="31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53"/>
          <p:cNvSpPr/>
          <p:nvPr/>
        </p:nvSpPr>
        <p:spPr>
          <a:xfrm rot="-5400000">
            <a:off x="4200890" y="3414674"/>
            <a:ext cx="742200" cy="11277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6D9EEB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4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54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如何在Antigravity裡面開啟文件</a:t>
            </a:r>
            <a:endParaRPr sz="1100"/>
          </a:p>
        </p:txBody>
      </p:sp>
      <p:pic>
        <p:nvPicPr>
          <p:cNvPr id="338" name="Google Shape;338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9974" y="1115680"/>
            <a:ext cx="2000864" cy="3832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5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55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如何在</a:t>
            </a: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Antigravity</a:t>
            </a: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裡面開啟文件</a:t>
            </a:r>
            <a:endParaRPr sz="1100"/>
          </a:p>
        </p:txBody>
      </p:sp>
      <p:pic>
        <p:nvPicPr>
          <p:cNvPr id="345" name="Google Shape;34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2549" y="1924905"/>
            <a:ext cx="7858125" cy="164782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55"/>
          <p:cNvSpPr/>
          <p:nvPr/>
        </p:nvSpPr>
        <p:spPr>
          <a:xfrm rot="-3153341">
            <a:off x="3606444" y="3257196"/>
            <a:ext cx="742117" cy="1127699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6D9EEB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6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56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打開“上課用ppt.pptx”</a:t>
            </a:r>
            <a:endParaRPr sz="1100"/>
          </a:p>
        </p:txBody>
      </p:sp>
      <p:pic>
        <p:nvPicPr>
          <p:cNvPr id="353" name="Google Shape;35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6774" y="1048055"/>
            <a:ext cx="6813281" cy="3832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7"/>
          <p:cNvSpPr/>
          <p:nvPr/>
        </p:nvSpPr>
        <p:spPr>
          <a:xfrm>
            <a:off x="-1" y="0"/>
            <a:ext cx="123574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57"/>
          <p:cNvSpPr txBox="1"/>
          <p:nvPr/>
        </p:nvSpPr>
        <p:spPr>
          <a:xfrm>
            <a:off x="583537" y="582930"/>
            <a:ext cx="7826273" cy="4686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建立、儲存檔案小練習</a:t>
            </a:r>
            <a:endParaRPr sz="1100"/>
          </a:p>
        </p:txBody>
      </p:sp>
      <p:sp>
        <p:nvSpPr>
          <p:cNvPr id="360" name="Google Shape;360;p57"/>
          <p:cNvSpPr txBox="1"/>
          <p:nvPr/>
        </p:nvSpPr>
        <p:spPr>
          <a:xfrm>
            <a:off x="363714" y="1245320"/>
            <a:ext cx="7620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b="0" i="0" lang="zh-TW" sz="14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右鍵 Explorer 空白處 → New File，練習新建</a:t>
            </a: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“</a:t>
            </a: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new</a:t>
            </a:r>
            <a:r>
              <a:rPr b="0" i="0" lang="zh-TW" sz="14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.txt</a:t>
            </a: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”</a:t>
            </a:r>
            <a:endParaRPr sz="1100"/>
          </a:p>
        </p:txBody>
      </p:sp>
      <p:pic>
        <p:nvPicPr>
          <p:cNvPr id="361" name="Google Shape;361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6251" y="99727"/>
            <a:ext cx="2545749" cy="45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526" y="2571753"/>
            <a:ext cx="5028775" cy="914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8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58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建立、儲存檔案小練習</a:t>
            </a:r>
            <a:endParaRPr sz="1100"/>
          </a:p>
        </p:txBody>
      </p:sp>
      <p:sp>
        <p:nvSpPr>
          <p:cNvPr id="369" name="Google Shape;369;p58"/>
          <p:cNvSpPr txBox="1"/>
          <p:nvPr/>
        </p:nvSpPr>
        <p:spPr>
          <a:xfrm>
            <a:off x="363714" y="1245320"/>
            <a:ext cx="7620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存檔快捷鍵 Ctrl+S；分頁圓點代表尚未儲存</a:t>
            </a:r>
            <a:endParaRPr sz="1100"/>
          </a:p>
        </p:txBody>
      </p:sp>
      <p:pic>
        <p:nvPicPr>
          <p:cNvPr id="370" name="Google Shape;370;p58"/>
          <p:cNvPicPr preferRelativeResize="0"/>
          <p:nvPr/>
        </p:nvPicPr>
        <p:blipFill rotWithShape="1">
          <a:blip r:embed="rId3">
            <a:alphaModFix/>
          </a:blip>
          <a:srcRect b="0" l="0" r="40331" t="0"/>
          <a:stretch/>
        </p:blipFill>
        <p:spPr>
          <a:xfrm>
            <a:off x="428400" y="1646625"/>
            <a:ext cx="5200650" cy="288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369950"/>
            <a:ext cx="4373870" cy="254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9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59"/>
          <p:cNvSpPr txBox="1"/>
          <p:nvPr/>
        </p:nvSpPr>
        <p:spPr>
          <a:xfrm>
            <a:off x="1472928" y="1957875"/>
            <a:ext cx="65751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42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好煩 不想一直按儲存!!!!!!</a:t>
            </a:r>
            <a:endParaRPr sz="3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0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60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建立、儲存檔案小練習</a:t>
            </a:r>
            <a:endParaRPr sz="1100"/>
          </a:p>
        </p:txBody>
      </p:sp>
      <p:sp>
        <p:nvSpPr>
          <p:cNvPr id="384" name="Google Shape;384;p60"/>
          <p:cNvSpPr txBox="1"/>
          <p:nvPr/>
        </p:nvSpPr>
        <p:spPr>
          <a:xfrm>
            <a:off x="411789" y="2403945"/>
            <a:ext cx="7620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lang="zh-TW" sz="21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</a:t>
            </a:r>
            <a:r>
              <a:rPr lang="zh-TW" sz="21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將Auto Save打開 一勞永逸</a:t>
            </a:r>
            <a:endParaRPr sz="1800"/>
          </a:p>
        </p:txBody>
      </p:sp>
      <p:pic>
        <p:nvPicPr>
          <p:cNvPr id="385" name="Google Shape;38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4999" y="78775"/>
            <a:ext cx="3397102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1"/>
          <p:cNvSpPr/>
          <p:nvPr/>
        </p:nvSpPr>
        <p:spPr>
          <a:xfrm>
            <a:off x="-1" y="0"/>
            <a:ext cx="123574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61"/>
          <p:cNvSpPr txBox="1"/>
          <p:nvPr/>
        </p:nvSpPr>
        <p:spPr>
          <a:xfrm>
            <a:off x="583537" y="582930"/>
            <a:ext cx="7826273" cy="4686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介面五大分區</a:t>
            </a:r>
            <a:endParaRPr sz="1100"/>
          </a:p>
        </p:txBody>
      </p:sp>
      <p:sp>
        <p:nvSpPr>
          <p:cNvPr id="392" name="Google Shape;392;p61"/>
          <p:cNvSpPr txBox="1"/>
          <p:nvPr/>
        </p:nvSpPr>
        <p:spPr>
          <a:xfrm>
            <a:off x="652189" y="1303020"/>
            <a:ext cx="7620319" cy="164020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b="0" i="0" lang="zh-TW" sz="14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Activity Bar（左側最窄那排圖示）：切換功能面板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b="0" i="0" lang="zh-TW" sz="14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側邊欄：檔案總管、搜尋、原始碼控制、擴充套件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b="0" i="0" lang="zh-TW" sz="14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編輯區：真正打字的地方，可分割成多個分頁/窗格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b="0" i="0" lang="zh-TW" sz="14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狀態列（底部）：語言、編碼、游標位置、Git 分支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b="0" i="0" lang="zh-TW" sz="14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右上角工具列：分割編輯器、開啟終端機、切換版面</a:t>
            </a:r>
            <a:endParaRPr sz="11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2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62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介面五大分區</a:t>
            </a:r>
            <a:endParaRPr sz="1100"/>
          </a:p>
        </p:txBody>
      </p:sp>
      <p:sp>
        <p:nvSpPr>
          <p:cNvPr id="399" name="Google Shape;399;p62"/>
          <p:cNvSpPr txBox="1"/>
          <p:nvPr/>
        </p:nvSpPr>
        <p:spPr>
          <a:xfrm>
            <a:off x="2493489" y="678045"/>
            <a:ext cx="7620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b="0" i="0" lang="zh-TW" sz="18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Activity Bar（左側最窄那排圖示）：切換功能面板</a:t>
            </a:r>
            <a:endParaRPr sz="1500"/>
          </a:p>
        </p:txBody>
      </p:sp>
      <p:pic>
        <p:nvPicPr>
          <p:cNvPr id="400" name="Google Shape;40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1224" y="1155145"/>
            <a:ext cx="504825" cy="327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3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63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介面五大分區</a:t>
            </a:r>
            <a:endParaRPr sz="1100"/>
          </a:p>
        </p:txBody>
      </p:sp>
      <p:sp>
        <p:nvSpPr>
          <p:cNvPr id="407" name="Google Shape;407;p63"/>
          <p:cNvSpPr txBox="1"/>
          <p:nvPr/>
        </p:nvSpPr>
        <p:spPr>
          <a:xfrm>
            <a:off x="2493489" y="678045"/>
            <a:ext cx="7620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b="0" i="0" lang="zh-TW" sz="18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</a:t>
            </a:r>
            <a:r>
              <a:rPr lang="zh-TW" sz="18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側邊欄：檔案總管、搜尋、原始碼控制、擴充套件</a:t>
            </a:r>
            <a:endParaRPr sz="1800"/>
          </a:p>
        </p:txBody>
      </p:sp>
      <p:pic>
        <p:nvPicPr>
          <p:cNvPr id="408" name="Google Shape;408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649" y="1176645"/>
            <a:ext cx="3571875" cy="354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4824" y="1212445"/>
            <a:ext cx="3571875" cy="354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4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64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介面五大分區</a:t>
            </a:r>
            <a:endParaRPr sz="1100"/>
          </a:p>
        </p:txBody>
      </p:sp>
      <p:sp>
        <p:nvSpPr>
          <p:cNvPr id="416" name="Google Shape;416;p64"/>
          <p:cNvSpPr txBox="1"/>
          <p:nvPr/>
        </p:nvSpPr>
        <p:spPr>
          <a:xfrm>
            <a:off x="2474264" y="673220"/>
            <a:ext cx="7620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b="0" i="0" lang="zh-TW" sz="18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編輯區：真正打字的地方，可分割成多個分頁/窗格</a:t>
            </a:r>
            <a:endParaRPr sz="1800"/>
          </a:p>
        </p:txBody>
      </p:sp>
      <p:pic>
        <p:nvPicPr>
          <p:cNvPr id="417" name="Google Shape;417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8474" y="1272095"/>
            <a:ext cx="4111344" cy="38192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5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5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介面五大分區</a:t>
            </a:r>
            <a:endParaRPr sz="1100"/>
          </a:p>
        </p:txBody>
      </p:sp>
      <p:sp>
        <p:nvSpPr>
          <p:cNvPr id="424" name="Google Shape;424;p65"/>
          <p:cNvSpPr txBox="1"/>
          <p:nvPr/>
        </p:nvSpPr>
        <p:spPr>
          <a:xfrm>
            <a:off x="2411764" y="721520"/>
            <a:ext cx="7620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b="0" i="0" lang="zh-TW" sz="18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狀態列（底部）：語言、編碼、游標位置、Git 分支</a:t>
            </a:r>
            <a:endParaRPr sz="1800"/>
          </a:p>
        </p:txBody>
      </p:sp>
      <p:pic>
        <p:nvPicPr>
          <p:cNvPr id="425" name="Google Shape;425;p65"/>
          <p:cNvPicPr preferRelativeResize="0"/>
          <p:nvPr/>
        </p:nvPicPr>
        <p:blipFill rotWithShape="1">
          <a:blip r:embed="rId3">
            <a:alphaModFix/>
          </a:blip>
          <a:srcRect b="0" l="52946" r="0" t="0"/>
          <a:stretch/>
        </p:blipFill>
        <p:spPr>
          <a:xfrm>
            <a:off x="1081400" y="2821625"/>
            <a:ext cx="7965901" cy="480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65"/>
          <p:cNvPicPr preferRelativeResize="0"/>
          <p:nvPr/>
        </p:nvPicPr>
        <p:blipFill rotWithShape="1">
          <a:blip r:embed="rId3">
            <a:alphaModFix/>
          </a:blip>
          <a:srcRect b="0" l="0" r="83886" t="0"/>
          <a:stretch/>
        </p:blipFill>
        <p:spPr>
          <a:xfrm>
            <a:off x="281125" y="1779700"/>
            <a:ext cx="2727828" cy="48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6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66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介面五大分區</a:t>
            </a:r>
            <a:endParaRPr sz="1100"/>
          </a:p>
        </p:txBody>
      </p:sp>
      <p:sp>
        <p:nvSpPr>
          <p:cNvPr id="433" name="Google Shape;433;p66"/>
          <p:cNvSpPr txBox="1"/>
          <p:nvPr/>
        </p:nvSpPr>
        <p:spPr>
          <a:xfrm>
            <a:off x="2392539" y="652220"/>
            <a:ext cx="7620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b="0" i="0" lang="zh-TW" sz="14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右上角工具列：分割編輯器、開啟終端機、切換版面</a:t>
            </a:r>
            <a:endParaRPr sz="1100"/>
          </a:p>
        </p:txBody>
      </p:sp>
      <p:pic>
        <p:nvPicPr>
          <p:cNvPr id="434" name="Google Shape;434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0119" y="2068173"/>
            <a:ext cx="4275975" cy="58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7"/>
          <p:cNvSpPr/>
          <p:nvPr/>
        </p:nvSpPr>
        <p:spPr>
          <a:xfrm>
            <a:off x="-1" y="0"/>
            <a:ext cx="123574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67"/>
          <p:cNvSpPr txBox="1"/>
          <p:nvPr/>
        </p:nvSpPr>
        <p:spPr>
          <a:xfrm>
            <a:off x="583537" y="421005"/>
            <a:ext cx="7483016" cy="28765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1100"/>
              <a:buFont typeface="Microsoft JhengHei"/>
              <a:buNone/>
            </a:pPr>
            <a:r>
              <a:rPr b="1" i="0" lang="zh-TW" sz="1100" u="none" cap="none" strike="noStrike">
                <a:solidFill>
                  <a:srgbClr val="3D5A8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☕ BREAK</a:t>
            </a:r>
            <a:endParaRPr sz="1100"/>
          </a:p>
        </p:txBody>
      </p:sp>
      <p:sp>
        <p:nvSpPr>
          <p:cNvPr id="441" name="Google Shape;441;p67"/>
          <p:cNvSpPr txBox="1"/>
          <p:nvPr/>
        </p:nvSpPr>
        <p:spPr>
          <a:xfrm>
            <a:off x="583537" y="754379"/>
            <a:ext cx="7826273" cy="60198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3000"/>
              <a:buFont typeface="Microsoft JhengHei"/>
              <a:buNone/>
            </a:pPr>
            <a:r>
              <a:rPr b="1" i="0" lang="zh-TW" sz="30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休息 10 分鐘</a:t>
            </a:r>
            <a:endParaRPr sz="11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8"/>
          <p:cNvSpPr/>
          <p:nvPr/>
        </p:nvSpPr>
        <p:spPr>
          <a:xfrm>
            <a:off x="-1" y="0"/>
            <a:ext cx="123574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68"/>
          <p:cNvSpPr txBox="1"/>
          <p:nvPr/>
        </p:nvSpPr>
        <p:spPr>
          <a:xfrm>
            <a:off x="583537" y="582930"/>
            <a:ext cx="7826273" cy="4686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擴充套件：安裝 Python</a:t>
            </a:r>
            <a:endParaRPr sz="1100"/>
          </a:p>
        </p:txBody>
      </p:sp>
      <p:sp>
        <p:nvSpPr>
          <p:cNvPr id="448" name="Google Shape;448;p68"/>
          <p:cNvSpPr txBox="1"/>
          <p:nvPr/>
        </p:nvSpPr>
        <p:spPr>
          <a:xfrm>
            <a:off x="652189" y="1303020"/>
            <a:ext cx="76203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b="0" i="0" lang="zh-TW" sz="14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Activity Bar 中方塊圖示 → Extensions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b="0" i="0" lang="zh-TW" sz="14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</a:t>
            </a: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安裝 Python（Microsoft 官方）：等下做小遊戲要用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449" name="Google Shape;449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311" y="2051270"/>
            <a:ext cx="7885379" cy="2932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9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69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終端機(Terminal)?</a:t>
            </a:r>
            <a:endParaRPr sz="1100"/>
          </a:p>
        </p:txBody>
      </p:sp>
      <p:pic>
        <p:nvPicPr>
          <p:cNvPr id="456" name="Google Shape;456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2600" y="100250"/>
            <a:ext cx="5005575" cy="4943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70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70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終端機(Terminal)?</a:t>
            </a:r>
            <a:endParaRPr sz="1100"/>
          </a:p>
        </p:txBody>
      </p:sp>
      <p:pic>
        <p:nvPicPr>
          <p:cNvPr id="463" name="Google Shape;463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2025" y="350574"/>
            <a:ext cx="4778326" cy="444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71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71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確認 Python 是否安裝成功</a:t>
            </a:r>
            <a:endParaRPr sz="1100"/>
          </a:p>
        </p:txBody>
      </p:sp>
      <p:sp>
        <p:nvSpPr>
          <p:cNvPr id="470" name="Google Shape;470;p71"/>
          <p:cNvSpPr txBox="1"/>
          <p:nvPr/>
        </p:nvSpPr>
        <p:spPr>
          <a:xfrm>
            <a:off x="322275" y="1231200"/>
            <a:ext cx="7978200" cy="26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latin typeface="Calibri"/>
                <a:ea typeface="Calibri"/>
                <a:cs typeface="Calibri"/>
                <a:sym typeface="Calibri"/>
              </a:rPr>
              <a:t>&gt; python --version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latin typeface="Calibri"/>
                <a:ea typeface="Calibri"/>
                <a:cs typeface="Calibri"/>
                <a:sym typeface="Calibri"/>
              </a:rPr>
              <a:t>Python 3.11.9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1" name="Google Shape;471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4700" y="975963"/>
            <a:ext cx="5829300" cy="290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275" y="3560825"/>
            <a:ext cx="6415175" cy="125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72"/>
          <p:cNvSpPr/>
          <p:nvPr/>
        </p:nvSpPr>
        <p:spPr>
          <a:xfrm>
            <a:off x="-1" y="0"/>
            <a:ext cx="123574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72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製作簡單的小遊戲</a:t>
            </a:r>
            <a:endParaRPr sz="1100"/>
          </a:p>
        </p:txBody>
      </p:sp>
      <p:sp>
        <p:nvSpPr>
          <p:cNvPr id="479" name="Google Shape;479;p72"/>
          <p:cNvSpPr txBox="1"/>
          <p:nvPr/>
        </p:nvSpPr>
        <p:spPr>
          <a:xfrm>
            <a:off x="720839" y="2348865"/>
            <a:ext cx="75516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rPr lang="zh-TW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請詢問ai “請幫我寫一個國小數學的問答挑戰python檔 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rPr lang="zh-TW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可以在網頁上使用“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73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73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製作簡單的小遊戲</a:t>
            </a:r>
            <a:endParaRPr sz="1100"/>
          </a:p>
        </p:txBody>
      </p:sp>
      <p:sp>
        <p:nvSpPr>
          <p:cNvPr id="486" name="Google Shape;486;p73"/>
          <p:cNvSpPr txBox="1"/>
          <p:nvPr/>
        </p:nvSpPr>
        <p:spPr>
          <a:xfrm>
            <a:off x="720839" y="2348865"/>
            <a:ext cx="7551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487" name="Google Shape;487;p73"/>
          <p:cNvSpPr txBox="1"/>
          <p:nvPr/>
        </p:nvSpPr>
        <p:spPr>
          <a:xfrm>
            <a:off x="2218589" y="744440"/>
            <a:ext cx="7551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rPr lang="zh-TW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對話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88" name="Google Shape;488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5401" y="1261900"/>
            <a:ext cx="3641425" cy="360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74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74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製作簡單的小遊戲</a:t>
            </a:r>
            <a:endParaRPr sz="1100"/>
          </a:p>
        </p:txBody>
      </p:sp>
      <p:sp>
        <p:nvSpPr>
          <p:cNvPr id="495" name="Google Shape;495;p74"/>
          <p:cNvSpPr txBox="1"/>
          <p:nvPr/>
        </p:nvSpPr>
        <p:spPr>
          <a:xfrm>
            <a:off x="720839" y="2348865"/>
            <a:ext cx="7551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496" name="Google Shape;496;p74"/>
          <p:cNvSpPr txBox="1"/>
          <p:nvPr/>
        </p:nvSpPr>
        <p:spPr>
          <a:xfrm>
            <a:off x="2218589" y="744440"/>
            <a:ext cx="7551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rPr lang="zh-TW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同意ai做事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97" name="Google Shape;497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2525" y="1439500"/>
            <a:ext cx="3876275" cy="3284975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74"/>
          <p:cNvSpPr/>
          <p:nvPr/>
        </p:nvSpPr>
        <p:spPr>
          <a:xfrm rot="-8100982">
            <a:off x="5733304" y="3371778"/>
            <a:ext cx="742250" cy="1127694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6D9EEB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3274" y="1589265"/>
            <a:ext cx="3284427" cy="2112735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75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75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製作簡單的小遊戲</a:t>
            </a:r>
            <a:endParaRPr sz="1100"/>
          </a:p>
        </p:txBody>
      </p:sp>
      <p:sp>
        <p:nvSpPr>
          <p:cNvPr id="506" name="Google Shape;506;p75"/>
          <p:cNvSpPr txBox="1"/>
          <p:nvPr/>
        </p:nvSpPr>
        <p:spPr>
          <a:xfrm>
            <a:off x="720839" y="2348865"/>
            <a:ext cx="7551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507" name="Google Shape;507;p75"/>
          <p:cNvSpPr txBox="1"/>
          <p:nvPr/>
        </p:nvSpPr>
        <p:spPr>
          <a:xfrm>
            <a:off x="2218589" y="744440"/>
            <a:ext cx="7551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rPr lang="zh-TW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同意</a:t>
            </a:r>
            <a:r>
              <a:rPr lang="zh-TW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運作計畫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8" name="Google Shape;508;p75"/>
          <p:cNvSpPr/>
          <p:nvPr/>
        </p:nvSpPr>
        <p:spPr>
          <a:xfrm rot="-5640583">
            <a:off x="3612436" y="2325337"/>
            <a:ext cx="742217" cy="1127742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6D9EEB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76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76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製作簡單的小遊戲</a:t>
            </a:r>
            <a:endParaRPr sz="1100"/>
          </a:p>
        </p:txBody>
      </p:sp>
      <p:sp>
        <p:nvSpPr>
          <p:cNvPr id="515" name="Google Shape;515;p76"/>
          <p:cNvSpPr txBox="1"/>
          <p:nvPr/>
        </p:nvSpPr>
        <p:spPr>
          <a:xfrm>
            <a:off x="720839" y="2348865"/>
            <a:ext cx="7551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516" name="Google Shape;516;p76"/>
          <p:cNvSpPr txBox="1"/>
          <p:nvPr/>
        </p:nvSpPr>
        <p:spPr>
          <a:xfrm>
            <a:off x="3078014" y="239915"/>
            <a:ext cx="7551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rPr lang="zh-TW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喝個咖啡等待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17" name="Google Shape;517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749" y="970434"/>
            <a:ext cx="3828400" cy="3901800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76"/>
          <p:cNvSpPr txBox="1"/>
          <p:nvPr/>
        </p:nvSpPr>
        <p:spPr>
          <a:xfrm>
            <a:off x="5564600" y="8164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https://github.com/johnlui/WaitDex</a:t>
            </a:r>
            <a:endParaRPr/>
          </a:p>
        </p:txBody>
      </p:sp>
      <p:pic>
        <p:nvPicPr>
          <p:cNvPr id="519" name="Google Shape;519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6300" y="1318025"/>
            <a:ext cx="4474601" cy="52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58650" y="2111228"/>
            <a:ext cx="2841200" cy="269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77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77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製作簡單的小遊戲</a:t>
            </a:r>
            <a:endParaRPr sz="1100"/>
          </a:p>
        </p:txBody>
      </p:sp>
      <p:sp>
        <p:nvSpPr>
          <p:cNvPr id="527" name="Google Shape;527;p77"/>
          <p:cNvSpPr txBox="1"/>
          <p:nvPr/>
        </p:nvSpPr>
        <p:spPr>
          <a:xfrm>
            <a:off x="720839" y="2348865"/>
            <a:ext cx="7551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528" name="Google Shape;528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6263" y="956100"/>
            <a:ext cx="4811471" cy="3984875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77"/>
          <p:cNvSpPr txBox="1"/>
          <p:nvPr/>
        </p:nvSpPr>
        <p:spPr>
          <a:xfrm>
            <a:off x="7065425" y="3164000"/>
            <a:ext cx="1156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rPr lang="zh-TW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快樂答題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78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78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製作簡單的小遊戲</a:t>
            </a:r>
            <a:endParaRPr sz="1100"/>
          </a:p>
        </p:txBody>
      </p:sp>
      <p:sp>
        <p:nvSpPr>
          <p:cNvPr id="536" name="Google Shape;536;p78"/>
          <p:cNvSpPr txBox="1"/>
          <p:nvPr/>
        </p:nvSpPr>
        <p:spPr>
          <a:xfrm>
            <a:off x="720839" y="2348865"/>
            <a:ext cx="7551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537" name="Google Shape;537;p78"/>
          <p:cNvSpPr txBox="1"/>
          <p:nvPr/>
        </p:nvSpPr>
        <p:spPr>
          <a:xfrm>
            <a:off x="583525" y="1670175"/>
            <a:ext cx="2846100" cy="13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rPr lang="zh-TW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如果要暫停</a:t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rPr lang="zh-TW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點擊終端機 </a:t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rPr lang="zh-TW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按下Ctrl + C</a:t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38" name="Google Shape;538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3700" y="1414850"/>
            <a:ext cx="6050301" cy="215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79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79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製作個人網頁</a:t>
            </a:r>
            <a:endParaRPr sz="1100"/>
          </a:p>
        </p:txBody>
      </p:sp>
      <p:sp>
        <p:nvSpPr>
          <p:cNvPr id="545" name="Google Shape;545;p79"/>
          <p:cNvSpPr txBox="1"/>
          <p:nvPr/>
        </p:nvSpPr>
        <p:spPr>
          <a:xfrm>
            <a:off x="803996" y="1138438"/>
            <a:ext cx="4629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rPr lang="zh-TW" sz="2000">
                <a:solidFill>
                  <a:schemeClr val="dk1"/>
                </a:solidFill>
              </a:rPr>
              <a:t>打開資料夾中的”card-template.html”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546" name="Google Shape;546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249" y="1647763"/>
            <a:ext cx="8715599" cy="3105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80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80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製作個人網頁</a:t>
            </a:r>
            <a:endParaRPr sz="1100"/>
          </a:p>
        </p:txBody>
      </p:sp>
      <p:sp>
        <p:nvSpPr>
          <p:cNvPr id="553" name="Google Shape;553;p80"/>
          <p:cNvSpPr txBox="1"/>
          <p:nvPr/>
        </p:nvSpPr>
        <p:spPr>
          <a:xfrm>
            <a:off x="803996" y="1138438"/>
            <a:ext cx="4629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rPr lang="zh-TW" sz="2000">
                <a:solidFill>
                  <a:schemeClr val="dk1"/>
                </a:solidFill>
              </a:rPr>
              <a:t>右鍵選擇”Copy Path”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554" name="Google Shape;554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1474" y="1515538"/>
            <a:ext cx="5101054" cy="3323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81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81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製作個人網頁</a:t>
            </a:r>
            <a:endParaRPr sz="1100"/>
          </a:p>
        </p:txBody>
      </p:sp>
      <p:sp>
        <p:nvSpPr>
          <p:cNvPr id="561" name="Google Shape;561;p81"/>
          <p:cNvSpPr txBox="1"/>
          <p:nvPr/>
        </p:nvSpPr>
        <p:spPr>
          <a:xfrm>
            <a:off x="803996" y="1138438"/>
            <a:ext cx="4629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rPr lang="zh-TW" sz="2000">
                <a:solidFill>
                  <a:schemeClr val="dk1"/>
                </a:solidFill>
              </a:rPr>
              <a:t>貼上到Chrom瀏覽器的網址列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562" name="Google Shape;562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5575" y="533125"/>
            <a:ext cx="4710924" cy="4272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82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82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製作個人網頁</a:t>
            </a:r>
            <a:endParaRPr sz="1100"/>
          </a:p>
        </p:txBody>
      </p:sp>
      <p:sp>
        <p:nvSpPr>
          <p:cNvPr id="569" name="Google Shape;569;p82"/>
          <p:cNvSpPr txBox="1"/>
          <p:nvPr/>
        </p:nvSpPr>
        <p:spPr>
          <a:xfrm>
            <a:off x="803996" y="1138438"/>
            <a:ext cx="4629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rPr lang="zh-TW" sz="2000">
                <a:solidFill>
                  <a:schemeClr val="dk1"/>
                </a:solidFill>
              </a:rPr>
              <a:t>個人小卡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570" name="Google Shape;570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0725" y="612349"/>
            <a:ext cx="3615951" cy="424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83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83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製作個人網頁</a:t>
            </a:r>
            <a:endParaRPr sz="1100"/>
          </a:p>
        </p:txBody>
      </p:sp>
      <p:sp>
        <p:nvSpPr>
          <p:cNvPr id="577" name="Google Shape;577;p83"/>
          <p:cNvSpPr txBox="1"/>
          <p:nvPr/>
        </p:nvSpPr>
        <p:spPr>
          <a:xfrm>
            <a:off x="803996" y="1138438"/>
            <a:ext cx="46299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rPr lang="zh-TW" sz="2000">
                <a:solidFill>
                  <a:schemeClr val="dk1"/>
                </a:solidFill>
              </a:rPr>
              <a:t>自我介紹、身分、Email、城市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rPr lang="zh-TW" sz="2000">
                <a:solidFill>
                  <a:schemeClr val="dk1"/>
                </a:solidFill>
              </a:rPr>
              <a:t>直接打字修改，Ctrl+S 存檔(如果有開Auto Save就不用按存檔)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rPr lang="zh-TW" sz="2000">
                <a:solidFill>
                  <a:schemeClr val="dk1"/>
                </a:solidFill>
              </a:rPr>
              <a:t>切回瀏覽器按 F5 重新整理。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578" name="Google Shape;578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8200" y="720275"/>
            <a:ext cx="3267275" cy="383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84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84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製作個人網頁</a:t>
            </a:r>
            <a:endParaRPr sz="1100"/>
          </a:p>
        </p:txBody>
      </p:sp>
      <p:sp>
        <p:nvSpPr>
          <p:cNvPr id="585" name="Google Shape;585;p84"/>
          <p:cNvSpPr txBox="1"/>
          <p:nvPr/>
        </p:nvSpPr>
        <p:spPr>
          <a:xfrm>
            <a:off x="803996" y="1138438"/>
            <a:ext cx="4629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rPr lang="zh-TW" sz="2000">
                <a:solidFill>
                  <a:schemeClr val="dk1"/>
                </a:solidFill>
              </a:rPr>
              <a:t>開始製作個人網頁吧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586" name="Google Shape;586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7226" y="462151"/>
            <a:ext cx="3480324" cy="442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85"/>
          <p:cNvSpPr/>
          <p:nvPr/>
        </p:nvSpPr>
        <p:spPr>
          <a:xfrm>
            <a:off x="-1" y="0"/>
            <a:ext cx="123574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85"/>
          <p:cNvSpPr txBox="1"/>
          <p:nvPr/>
        </p:nvSpPr>
        <p:spPr>
          <a:xfrm>
            <a:off x="583537" y="582930"/>
            <a:ext cx="7826273" cy="4686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Git 基礎操作</a:t>
            </a:r>
            <a:endParaRPr sz="1100"/>
          </a:p>
        </p:txBody>
      </p:sp>
      <p:sp>
        <p:nvSpPr>
          <p:cNvPr id="593" name="Google Shape;593;p85"/>
          <p:cNvSpPr txBox="1"/>
          <p:nvPr/>
        </p:nvSpPr>
        <p:spPr>
          <a:xfrm>
            <a:off x="652189" y="1303020"/>
            <a:ext cx="7620300" cy="10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b="0" i="0" lang="zh-TW" sz="14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終端機輸入 git init 初始化版本控制</a:t>
            </a:r>
            <a:endParaRPr b="0" i="0" sz="1400" u="none" cap="none" strike="noStrike"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</a:t>
            </a: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git config --global user.name "John Doe" 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</a:t>
            </a: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git config --global user.email johndoe@example.com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b="0" i="0" lang="zh-TW" sz="14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訊息框輸入說明文字，完成 commit</a:t>
            </a:r>
            <a:endParaRPr sz="1100"/>
          </a:p>
        </p:txBody>
      </p:sp>
      <p:pic>
        <p:nvPicPr>
          <p:cNvPr id="594" name="Google Shape;594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7366" y="2336825"/>
            <a:ext cx="5481259" cy="274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86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86"/>
          <p:cNvSpPr txBox="1"/>
          <p:nvPr/>
        </p:nvSpPr>
        <p:spPr>
          <a:xfrm>
            <a:off x="583537" y="308610"/>
            <a:ext cx="7482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1000"/>
              <a:buFont typeface="Microsoft JhengHei"/>
              <a:buNone/>
            </a:pPr>
            <a:r>
              <a:rPr b="1" i="0" lang="zh-TW" sz="1000" u="none" cap="none" strike="noStrike">
                <a:solidFill>
                  <a:srgbClr val="3D5A8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課後</a:t>
            </a:r>
            <a:endParaRPr sz="1100"/>
          </a:p>
        </p:txBody>
      </p:sp>
      <p:sp>
        <p:nvSpPr>
          <p:cNvPr id="601" name="Google Shape;601;p86"/>
          <p:cNvSpPr txBox="1"/>
          <p:nvPr/>
        </p:nvSpPr>
        <p:spPr>
          <a:xfrm>
            <a:off x="583537" y="582930"/>
            <a:ext cx="78264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自我檢查清單</a:t>
            </a:r>
            <a:endParaRPr sz="1100"/>
          </a:p>
        </p:txBody>
      </p:sp>
      <p:sp>
        <p:nvSpPr>
          <p:cNvPr id="602" name="Google Shape;602;p86"/>
          <p:cNvSpPr txBox="1"/>
          <p:nvPr/>
        </p:nvSpPr>
        <p:spPr>
          <a:xfrm>
            <a:off x="652189" y="1303020"/>
            <a:ext cx="7620300" cy="25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能獨立安裝 Antigravity IDE，並用個人帳戶登入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能開啟資料夾當專案，用擴充套件直接瀏覽 txt / PPT 文件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能切換色彩主題與字型，依個人習慣決定是否切換為繁體中文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能講出介面五大分區的用途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能安裝 Python 擴充套件，開啟終端機並確認 python 指令可用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能用 AI 產生程式碼，看懂並同意 AI 的執行計畫，執行一個小遊戲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能用多游標、搜尋取代完成一份自己的作品（個人名片網頁），並在瀏覽器打開它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能設定 Git 使用者身份（user.name / user.email）並完成一次 commit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87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87"/>
          <p:cNvSpPr txBox="1"/>
          <p:nvPr/>
        </p:nvSpPr>
        <p:spPr>
          <a:xfrm>
            <a:off x="583537" y="308610"/>
            <a:ext cx="7482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1000"/>
              <a:buFont typeface="Microsoft JhengHei"/>
              <a:buNone/>
            </a:pPr>
            <a:r>
              <a:rPr b="1" i="0" lang="zh-TW" sz="1000" u="none" cap="none" strike="noStrike">
                <a:solidFill>
                  <a:srgbClr val="3D5A8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課後</a:t>
            </a:r>
            <a:endParaRPr sz="1100"/>
          </a:p>
        </p:txBody>
      </p:sp>
      <p:sp>
        <p:nvSpPr>
          <p:cNvPr id="609" name="Google Shape;609;p87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簡單部屬</a:t>
            </a:r>
            <a:endParaRPr sz="1100"/>
          </a:p>
        </p:txBody>
      </p:sp>
      <p:pic>
        <p:nvPicPr>
          <p:cNvPr id="610" name="Google Shape;610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1150" y="1151525"/>
            <a:ext cx="6921700" cy="360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88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88"/>
          <p:cNvSpPr txBox="1"/>
          <p:nvPr/>
        </p:nvSpPr>
        <p:spPr>
          <a:xfrm>
            <a:off x="583537" y="308610"/>
            <a:ext cx="7482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1000"/>
              <a:buFont typeface="Microsoft JhengHei"/>
              <a:buNone/>
            </a:pPr>
            <a:r>
              <a:rPr b="1" i="0" lang="zh-TW" sz="1000" u="none" cap="none" strike="noStrike">
                <a:solidFill>
                  <a:srgbClr val="3D5A8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課後</a:t>
            </a:r>
            <a:endParaRPr sz="1100"/>
          </a:p>
        </p:txBody>
      </p:sp>
      <p:sp>
        <p:nvSpPr>
          <p:cNvPr id="617" name="Google Shape;617;p88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簡單部屬</a:t>
            </a:r>
            <a:endParaRPr sz="1100"/>
          </a:p>
        </p:txBody>
      </p:sp>
      <p:pic>
        <p:nvPicPr>
          <p:cNvPr id="618" name="Google Shape;618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276" y="1737850"/>
            <a:ext cx="5248851" cy="3405650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88"/>
          <p:cNvSpPr txBox="1"/>
          <p:nvPr/>
        </p:nvSpPr>
        <p:spPr>
          <a:xfrm>
            <a:off x="583514" y="1057345"/>
            <a:ext cx="7620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請選擇Hobby 不然要付錢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89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89"/>
          <p:cNvSpPr txBox="1"/>
          <p:nvPr/>
        </p:nvSpPr>
        <p:spPr>
          <a:xfrm>
            <a:off x="583537" y="308610"/>
            <a:ext cx="7482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1000"/>
              <a:buFont typeface="Microsoft JhengHei"/>
              <a:buNone/>
            </a:pPr>
            <a:r>
              <a:rPr b="1" i="0" lang="zh-TW" sz="1000" u="none" cap="none" strike="noStrike">
                <a:solidFill>
                  <a:srgbClr val="3D5A8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課後</a:t>
            </a:r>
            <a:endParaRPr sz="1100"/>
          </a:p>
        </p:txBody>
      </p:sp>
      <p:sp>
        <p:nvSpPr>
          <p:cNvPr id="626" name="Google Shape;626;p89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簡單部屬</a:t>
            </a:r>
            <a:endParaRPr sz="1100"/>
          </a:p>
        </p:txBody>
      </p:sp>
      <p:pic>
        <p:nvPicPr>
          <p:cNvPr id="627" name="Google Shape;627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0324" y="1311030"/>
            <a:ext cx="7403339" cy="3832471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89"/>
          <p:cNvSpPr txBox="1"/>
          <p:nvPr/>
        </p:nvSpPr>
        <p:spPr>
          <a:xfrm>
            <a:off x="583514" y="1016270"/>
            <a:ext cx="7620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直接將資料夾拖曳到網站中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90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90"/>
          <p:cNvSpPr txBox="1"/>
          <p:nvPr/>
        </p:nvSpPr>
        <p:spPr>
          <a:xfrm>
            <a:off x="583537" y="308610"/>
            <a:ext cx="7482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1000"/>
              <a:buFont typeface="Microsoft JhengHei"/>
              <a:buNone/>
            </a:pPr>
            <a:r>
              <a:rPr b="1" i="0" lang="zh-TW" sz="1000" u="none" cap="none" strike="noStrike">
                <a:solidFill>
                  <a:srgbClr val="3D5A8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課後</a:t>
            </a:r>
            <a:endParaRPr sz="1100"/>
          </a:p>
        </p:txBody>
      </p:sp>
      <p:sp>
        <p:nvSpPr>
          <p:cNvPr id="635" name="Google Shape;635;p90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簡單部屬</a:t>
            </a:r>
            <a:endParaRPr sz="1100"/>
          </a:p>
        </p:txBody>
      </p:sp>
      <p:sp>
        <p:nvSpPr>
          <p:cNvPr id="636" name="Google Shape;636;p90"/>
          <p:cNvSpPr txBox="1"/>
          <p:nvPr/>
        </p:nvSpPr>
        <p:spPr>
          <a:xfrm>
            <a:off x="583514" y="1016270"/>
            <a:ext cx="7620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按最下方的deploy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637" name="Google Shape;637;p90"/>
          <p:cNvPicPr preferRelativeResize="0"/>
          <p:nvPr/>
        </p:nvPicPr>
        <p:blipFill rotWithShape="1">
          <a:blip r:embed="rId3">
            <a:alphaModFix/>
          </a:blip>
          <a:srcRect b="0" l="7106" r="0" t="0"/>
          <a:stretch/>
        </p:blipFill>
        <p:spPr>
          <a:xfrm>
            <a:off x="3652550" y="342238"/>
            <a:ext cx="4706450" cy="445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91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91"/>
          <p:cNvSpPr txBox="1"/>
          <p:nvPr/>
        </p:nvSpPr>
        <p:spPr>
          <a:xfrm>
            <a:off x="583537" y="308610"/>
            <a:ext cx="7482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1000"/>
              <a:buFont typeface="Microsoft JhengHei"/>
              <a:buNone/>
            </a:pPr>
            <a:r>
              <a:rPr b="1" i="0" lang="zh-TW" sz="1000" u="none" cap="none" strike="noStrike">
                <a:solidFill>
                  <a:srgbClr val="3D5A8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課後</a:t>
            </a:r>
            <a:endParaRPr sz="1100"/>
          </a:p>
        </p:txBody>
      </p:sp>
      <p:sp>
        <p:nvSpPr>
          <p:cNvPr id="644" name="Google Shape;644;p91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簡單部屬</a:t>
            </a:r>
            <a:endParaRPr sz="1100"/>
          </a:p>
        </p:txBody>
      </p:sp>
      <p:sp>
        <p:nvSpPr>
          <p:cNvPr id="645" name="Google Shape;645;p91"/>
          <p:cNvSpPr txBox="1"/>
          <p:nvPr/>
        </p:nvSpPr>
        <p:spPr>
          <a:xfrm>
            <a:off x="583514" y="1016270"/>
            <a:ext cx="7620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點擊{Continue to Project}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646" name="Google Shape;646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3775" y="122840"/>
            <a:ext cx="5023251" cy="489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92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92"/>
          <p:cNvSpPr txBox="1"/>
          <p:nvPr/>
        </p:nvSpPr>
        <p:spPr>
          <a:xfrm>
            <a:off x="583537" y="308610"/>
            <a:ext cx="7482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1000"/>
              <a:buFont typeface="Microsoft JhengHei"/>
              <a:buNone/>
            </a:pPr>
            <a:r>
              <a:rPr b="1" i="0" lang="zh-TW" sz="1000" u="none" cap="none" strike="noStrike">
                <a:solidFill>
                  <a:srgbClr val="3D5A8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課後</a:t>
            </a:r>
            <a:endParaRPr sz="1100"/>
          </a:p>
        </p:txBody>
      </p:sp>
      <p:sp>
        <p:nvSpPr>
          <p:cNvPr id="653" name="Google Shape;653;p92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簡單部屬</a:t>
            </a:r>
            <a:endParaRPr sz="1100"/>
          </a:p>
        </p:txBody>
      </p:sp>
      <p:sp>
        <p:nvSpPr>
          <p:cNvPr id="654" name="Google Shape;654;p92"/>
          <p:cNvSpPr txBox="1"/>
          <p:nvPr/>
        </p:nvSpPr>
        <p:spPr>
          <a:xfrm>
            <a:off x="583514" y="1016270"/>
            <a:ext cx="7620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部屬成功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655" name="Google Shape;655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6750" y="242727"/>
            <a:ext cx="5823824" cy="465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93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1" name="Google Shape;661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999" y="152400"/>
            <a:ext cx="6215366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94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7" name="Google Shape;667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999" y="152400"/>
            <a:ext cx="649270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95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3" name="Google Shape;673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999" y="152400"/>
            <a:ext cx="649270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