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大標題文字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12" name="內文層級一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大標題文字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21" name="內文層級一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2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大標題文字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大標題文字</a:t>
            </a:r>
          </a:p>
        </p:txBody>
      </p:sp>
      <p:sp>
        <p:nvSpPr>
          <p:cNvPr id="30" name="內文層級一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31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大標題文字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39" name="內文層級一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大標題文字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48" name="內文層級一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大標題文字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58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大標題文字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大標題文字</a:t>
            </a:r>
          </a:p>
        </p:txBody>
      </p:sp>
      <p:sp>
        <p:nvSpPr>
          <p:cNvPr id="73" name="內文層級一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大標題文字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大標題文字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內文層級一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大標題文字</a:t>
            </a:r>
          </a:p>
        </p:txBody>
      </p:sp>
      <p:sp>
        <p:nvSpPr>
          <p:cNvPr id="3" name="內文層級一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3"/>
          <p:cNvSpPr txBox="1"/>
          <p:nvPr/>
        </p:nvSpPr>
        <p:spPr>
          <a:xfrm>
            <a:off x="777239" y="1005839"/>
            <a:ext cx="10424161" cy="125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微軟大戰程式碼 從入門到入侵      </a:t>
            </a:r>
          </a:p>
          <a:p>
            <a: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(microsoft VS code)</a:t>
            </a:r>
          </a:p>
        </p:txBody>
      </p:sp>
      <p:sp>
        <p:nvSpPr>
          <p:cNvPr id="96" name="TextBox 4"/>
          <p:cNvSpPr txBox="1"/>
          <p:nvPr/>
        </p:nvSpPr>
        <p:spPr>
          <a:xfrm>
            <a:off x="777239" y="3935151"/>
            <a:ext cx="8262206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從零安裝到能寫、能跑、能用終端機與 Git 的基本工作流。</a:t>
            </a:r>
          </a:p>
          <a:p>
            <a:pPr>
              <a:defRPr sz="24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面向客群：有電腦操作能利,未用VScode寫過程式。</a:t>
            </a:r>
          </a:p>
        </p:txBody>
      </p:sp>
      <p:pic>
        <p:nvPicPr>
          <p:cNvPr id="97" name="clipart1143950.png" descr="clipart114395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78797" y="3633951"/>
            <a:ext cx="1844840" cy="1839382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2"/>
          <p:cNvSpPr txBox="1"/>
          <p:nvPr/>
        </p:nvSpPr>
        <p:spPr>
          <a:xfrm>
            <a:off x="777239" y="411480"/>
            <a:ext cx="99669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00:00 起</a:t>
            </a:r>
          </a:p>
        </p:txBody>
      </p:sp>
      <p:sp>
        <p:nvSpPr>
          <p:cNvPr id="101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今天的路線圖</a:t>
            </a:r>
          </a:p>
        </p:txBody>
      </p:sp>
      <p:sp>
        <p:nvSpPr>
          <p:cNvPr id="102" name="TextBox 4"/>
          <p:cNvSpPr txBox="1"/>
          <p:nvPr/>
        </p:nvSpPr>
        <p:spPr>
          <a:xfrm>
            <a:off x="868679" y="1737360"/>
            <a:ext cx="10149842" cy="440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00:00–00:20  </a:t>
            </a:r>
            <a:r>
              <a:rPr>
                <a:solidFill>
                  <a:schemeClr val="accent2"/>
                </a:solidFill>
              </a:rPr>
              <a:t>安裝</a:t>
            </a:r>
            <a:r>
              <a:t>與初次啟動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00:20–00:45  檔案與專案管理：</a:t>
            </a:r>
            <a:r>
              <a:rPr>
                <a:solidFill>
                  <a:schemeClr val="accent2"/>
                </a:solidFill>
              </a:rPr>
              <a:t>打開</a:t>
            </a:r>
            <a:r>
              <a:t>下載資料夾與講義文件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00:45–01:05  換主題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01:05–01:15  繁體中文化（可選）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01:15–01:40  介面認識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01:40–01:50  休息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01:50–02:15  編輯技巧與快捷鍵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02:15–02:25  擴充套件：安裝 Python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02:25–02:45  整合終端機與 Git 基礎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02:45–03:00  </a:t>
            </a:r>
            <a:r>
              <a:rPr>
                <a:solidFill>
                  <a:schemeClr val="accent2"/>
                </a:solidFill>
              </a:rPr>
              <a:t>實作</a:t>
            </a:r>
            <a:r>
              <a:t>：簽到靶機 API 練習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下載與安裝</a:t>
            </a:r>
          </a:p>
        </p:txBody>
      </p:sp>
      <p:sp>
        <p:nvSpPr>
          <p:cNvPr id="106" name="TextBox 4"/>
          <p:cNvSpPr txBox="1"/>
          <p:nvPr/>
        </p:nvSpPr>
        <p:spPr>
          <a:xfrm>
            <a:off x="868679" y="1737360"/>
            <a:ext cx="1014984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180473" indent="-180473">
              <a:spcBef>
                <a:spcPts val="1000"/>
              </a:spcBef>
              <a:buSzPct val="100000"/>
              <a:buChar char="•"/>
              <a:defRPr sz="21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 官網下載對應版本（Windows .exe / macOS .zip)</a:t>
            </a:r>
          </a:p>
        </p:txBody>
      </p:sp>
      <p:pic>
        <p:nvPicPr>
          <p:cNvPr id="107" name="貼上的影片.png" descr="貼上的影片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3801" y="2309791"/>
            <a:ext cx="12179301" cy="39413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下載與安裝</a:t>
            </a:r>
          </a:p>
        </p:txBody>
      </p:sp>
      <p:sp>
        <p:nvSpPr>
          <p:cNvPr id="111" name="TextBox 4"/>
          <p:cNvSpPr txBox="1"/>
          <p:nvPr/>
        </p:nvSpPr>
        <p:spPr>
          <a:xfrm>
            <a:off x="868679" y="1737360"/>
            <a:ext cx="1014984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180473" indent="-180473">
              <a:spcBef>
                <a:spcPts val="1000"/>
              </a:spcBef>
              <a:buSzPct val="100000"/>
              <a:buChar char="•"/>
              <a:defRPr sz="21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 官網下載對應版本（Windows .exe / macOS .zip)</a:t>
            </a:r>
          </a:p>
        </p:txBody>
      </p:sp>
      <p:pic>
        <p:nvPicPr>
          <p:cNvPr id="112" name="貼上的影片.png" descr="貼上的影片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8388" y="2183998"/>
            <a:ext cx="10149841" cy="44669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下載與安裝</a:t>
            </a:r>
          </a:p>
        </p:txBody>
      </p:sp>
      <p:sp>
        <p:nvSpPr>
          <p:cNvPr id="116" name="TextBox 4"/>
          <p:cNvSpPr txBox="1"/>
          <p:nvPr/>
        </p:nvSpPr>
        <p:spPr>
          <a:xfrm>
            <a:off x="868679" y="1737360"/>
            <a:ext cx="1014984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•  Windows 安裝時勾選「加入 PATH」</a:t>
            </a:r>
          </a:p>
        </p:txBody>
      </p:sp>
      <p:pic>
        <p:nvPicPr>
          <p:cNvPr id="117" name="貼上的影片.png" descr="貼上的影片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55814" y="2178156"/>
            <a:ext cx="5238315" cy="42916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VScode？</a:t>
            </a:r>
          </a:p>
        </p:txBody>
      </p:sp>
      <p:pic>
        <p:nvPicPr>
          <p:cNvPr id="121" name="貼上的影片.png" descr="貼上的影片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35271" y="1361619"/>
            <a:ext cx="9725160" cy="51057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VScode？</a:t>
            </a:r>
          </a:p>
        </p:txBody>
      </p:sp>
      <p:pic>
        <p:nvPicPr>
          <p:cNvPr id="125" name="貼上的影片.png" descr="貼上的影片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78198" y="1344113"/>
            <a:ext cx="9725160" cy="5105710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圓角矩形"/>
          <p:cNvSpPr/>
          <p:nvPr/>
        </p:nvSpPr>
        <p:spPr>
          <a:xfrm>
            <a:off x="2482605" y="3628998"/>
            <a:ext cx="1278518" cy="535941"/>
          </a:xfrm>
          <a:prstGeom prst="roundRect">
            <a:avLst>
              <a:gd name="adj" fmla="val 38029"/>
            </a:avLst>
          </a:prstGeom>
          <a:solidFill>
            <a:srgbClr val="FFFFFF">
              <a:alpha val="0"/>
            </a:srgbClr>
          </a:solidFill>
          <a:ln w="88900">
            <a:solidFill>
              <a:srgbClr val="F60B00"/>
            </a:solidFill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IDE編輯器？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初次啟動一覽</a:t>
            </a:r>
          </a:p>
        </p:txBody>
      </p:sp>
      <p:sp>
        <p:nvSpPr>
          <p:cNvPr id="133" name="TextBox 4"/>
          <p:cNvSpPr txBox="1"/>
          <p:nvPr/>
        </p:nvSpPr>
        <p:spPr>
          <a:xfrm>
            <a:off x="868679" y="1737360"/>
            <a:ext cx="10149842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語言暫時保持英文，介面認識與中文化留到後面模組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示範一次 Ctrl+Shift+P（Mac：Cmd+Shift+P）開啟命令面板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讓學員有印象即可，不深入教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「開啟資料夾」＝ VS Code 裡的專案</a:t>
            </a:r>
          </a:p>
        </p:txBody>
      </p:sp>
      <p:sp>
        <p:nvSpPr>
          <p:cNvPr id="137" name="TextBox 4"/>
          <p:cNvSpPr txBox="1"/>
          <p:nvPr/>
        </p:nvSpPr>
        <p:spPr>
          <a:xfrm>
            <a:off x="868679" y="1737360"/>
            <a:ext cx="10149842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VS Code 沒有「新建專案」按鈕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File → Open Folder，選取「下載」資料夾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課程講義 PPT / 文件已預先透過課程網頁提供下載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左側 Explorer 顯示該資料夾內容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用 Office 擴充套件直接看 PPT / Word</a:t>
            </a:r>
          </a:p>
        </p:txBody>
      </p:sp>
      <p:sp>
        <p:nvSpPr>
          <p:cNvPr id="141" name="TextBox 4"/>
          <p:cNvSpPr txBox="1"/>
          <p:nvPr/>
        </p:nvSpPr>
        <p:spPr>
          <a:xfrm>
            <a:off x="868679" y="1737360"/>
            <a:ext cx="10149842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Extensions 面板搜尋安裝 Office Viewer 類套件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點開課程講義 PPT，直接在分頁裡翻頁預覽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不需要另外開 PowerPoint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順便示範開啟一個 .docx 講義文件比對</a:t>
            </a:r>
          </a:p>
        </p:txBody>
      </p:sp>
      <p:grpSp>
        <p:nvGrpSpPr>
          <p:cNvPr id="144" name="Rectangle 5"/>
          <p:cNvGrpSpPr/>
          <p:nvPr/>
        </p:nvGrpSpPr>
        <p:grpSpPr>
          <a:xfrm>
            <a:off x="822959" y="4114799"/>
            <a:ext cx="10241282" cy="822962"/>
            <a:chOff x="0" y="0"/>
            <a:chExt cx="10241280" cy="822960"/>
          </a:xfrm>
        </p:grpSpPr>
        <p:sp>
          <p:nvSpPr>
            <p:cNvPr id="142" name="矩形"/>
            <p:cNvSpPr/>
            <p:nvPr/>
          </p:nvSpPr>
          <p:spPr>
            <a:xfrm>
              <a:off x="-1" y="-1"/>
              <a:ext cx="10241282" cy="822962"/>
            </a:xfrm>
            <a:prstGeom prst="rect">
              <a:avLst/>
            </a:prstGeom>
            <a:solidFill>
              <a:srgbClr val="E8EEF4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3" name="帶學員做：請每個人自己在下載資料夾裡找到今天的講義並點開看一次"/>
            <p:cNvSpPr txBox="1"/>
            <p:nvPr/>
          </p:nvSpPr>
          <p:spPr>
            <a:xfrm>
              <a:off x="182879" y="264414"/>
              <a:ext cx="1001268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3D5A8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pPr/>
              <a:r>
                <a:t>帶學員做：請每個人自己在下載資料夾裡找到今天的講義並點開看一次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建立、儲存檔案小練習</a:t>
            </a:r>
          </a:p>
        </p:txBody>
      </p:sp>
      <p:sp>
        <p:nvSpPr>
          <p:cNvPr id="148" name="TextBox 4"/>
          <p:cNvSpPr txBox="1"/>
          <p:nvPr/>
        </p:nvSpPr>
        <p:spPr>
          <a:xfrm>
            <a:off x="868679" y="1737360"/>
            <a:ext cx="10149842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右鍵 Explorer 空白處 → New File，練習新建空白 .txt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存檔快捷鍵 Ctrl+S；分頁圓點代表尚未儲存</a:t>
            </a:r>
          </a:p>
        </p:txBody>
      </p:sp>
      <p:grpSp>
        <p:nvGrpSpPr>
          <p:cNvPr id="151" name="Rectangle 5"/>
          <p:cNvGrpSpPr/>
          <p:nvPr/>
        </p:nvGrpSpPr>
        <p:grpSpPr>
          <a:xfrm>
            <a:off x="822959" y="3200399"/>
            <a:ext cx="10241282" cy="822962"/>
            <a:chOff x="0" y="0"/>
            <a:chExt cx="10241280" cy="822960"/>
          </a:xfrm>
        </p:grpSpPr>
        <p:sp>
          <p:nvSpPr>
            <p:cNvPr id="149" name="矩形"/>
            <p:cNvSpPr/>
            <p:nvPr/>
          </p:nvSpPr>
          <p:spPr>
            <a:xfrm>
              <a:off x="-1" y="-1"/>
              <a:ext cx="10241282" cy="822962"/>
            </a:xfrm>
            <a:prstGeom prst="rect">
              <a:avLst/>
            </a:prstGeom>
            <a:solidFill>
              <a:srgbClr val="F6E9D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0" name="常見誤解：學員常以為要「存專案」，其實只存個別檔案，資料夾只是視窗顯示範圍"/>
            <p:cNvSpPr txBox="1"/>
            <p:nvPr/>
          </p:nvSpPr>
          <p:spPr>
            <a:xfrm>
              <a:off x="182879" y="264414"/>
              <a:ext cx="1001268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C8863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pPr/>
              <a:r>
                <a:t>常見誤解：學員常以為要「存專案」，其實只存個別檔案，資料夾只是視窗顯示範圍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切換色彩主題</a:t>
            </a:r>
          </a:p>
        </p:txBody>
      </p:sp>
      <p:sp>
        <p:nvSpPr>
          <p:cNvPr id="155" name="TextBox 4"/>
          <p:cNvSpPr txBox="1"/>
          <p:nvPr/>
        </p:nvSpPr>
        <p:spPr>
          <a:xfrm>
            <a:off x="868679" y="1737360"/>
            <a:ext cx="10149842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命令面板 → Preferences: Color Theme（方向鍵即時預覽）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命令面板 → Preferences: File Icon Theme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可額外安裝主題套件（如 One Dark Pro）擴充選擇</a:t>
            </a:r>
          </a:p>
        </p:txBody>
      </p:sp>
      <p:grpSp>
        <p:nvGrpSpPr>
          <p:cNvPr id="158" name="Rectangle 5"/>
          <p:cNvGrpSpPr/>
          <p:nvPr/>
        </p:nvGrpSpPr>
        <p:grpSpPr>
          <a:xfrm>
            <a:off x="822959" y="3657599"/>
            <a:ext cx="10241282" cy="822962"/>
            <a:chOff x="0" y="0"/>
            <a:chExt cx="10241280" cy="822960"/>
          </a:xfrm>
        </p:grpSpPr>
        <p:sp>
          <p:nvSpPr>
            <p:cNvPr id="156" name="矩形"/>
            <p:cNvSpPr/>
            <p:nvPr/>
          </p:nvSpPr>
          <p:spPr>
            <a:xfrm>
              <a:off x="-1" y="-1"/>
              <a:ext cx="10241282" cy="822962"/>
            </a:xfrm>
            <a:prstGeom prst="rect">
              <a:avLst/>
            </a:prstGeom>
            <a:solidFill>
              <a:srgbClr val="E8EEF4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7" name="帶學員做：讓每個人選一個喜歡的主題，鼓勵現場分享畫面，順便複習命令面板"/>
            <p:cNvSpPr txBox="1"/>
            <p:nvPr/>
          </p:nvSpPr>
          <p:spPr>
            <a:xfrm>
              <a:off x="182879" y="264414"/>
              <a:ext cx="1001268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3D5A8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pPr/>
              <a:r>
                <a:t>帶學員做：讓每個人選一個喜歡的主題，鼓勵現場分享畫面，順便複習命令面板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調整字型大小與字體</a:t>
            </a:r>
          </a:p>
        </p:txBody>
      </p:sp>
      <p:sp>
        <p:nvSpPr>
          <p:cNvPr id="162" name="TextBox 4"/>
          <p:cNvSpPr txBox="1"/>
          <p:nvPr/>
        </p:nvSpPr>
        <p:spPr>
          <a:xfrm>
            <a:off x="868679" y="1737360"/>
            <a:ext cx="10149842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設定搜尋 font size 調整編輯字型大小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設定搜尋 font family 調整字體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示範放大字型對長時間閱讀程式碼的幫助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繁體中文化（可選）</a:t>
            </a:r>
          </a:p>
        </p:txBody>
      </p:sp>
      <p:sp>
        <p:nvSpPr>
          <p:cNvPr id="166" name="TextBox 4"/>
          <p:cNvSpPr txBox="1"/>
          <p:nvPr/>
        </p:nvSpPr>
        <p:spPr>
          <a:xfrm>
            <a:off x="868679" y="1737360"/>
            <a:ext cx="10149842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介面已經玩過一輪、顏色也換好了，讓學員自行決定是否切換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命令面板輸入 Configure Display Language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安裝 Chinese (Traditional) Language Pack，重啟生效</a:t>
            </a:r>
          </a:p>
        </p:txBody>
      </p:sp>
      <p:grpSp>
        <p:nvGrpSpPr>
          <p:cNvPr id="169" name="Rectangle 5"/>
          <p:cNvGrpSpPr/>
          <p:nvPr/>
        </p:nvGrpSpPr>
        <p:grpSpPr>
          <a:xfrm>
            <a:off x="822959" y="3657599"/>
            <a:ext cx="10241282" cy="822962"/>
            <a:chOff x="0" y="0"/>
            <a:chExt cx="10241280" cy="822960"/>
          </a:xfrm>
        </p:grpSpPr>
        <p:sp>
          <p:nvSpPr>
            <p:cNvPr id="167" name="矩形"/>
            <p:cNvSpPr/>
            <p:nvPr/>
          </p:nvSpPr>
          <p:spPr>
            <a:xfrm>
              <a:off x="-1" y="-1"/>
              <a:ext cx="10241282" cy="822962"/>
            </a:xfrm>
            <a:prstGeom prst="rect">
              <a:avLst/>
            </a:prstGeom>
            <a:solidFill>
              <a:srgbClr val="E8EEF4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8" name="不強制統一語言：投影示範用中文介面，學員機器保留英文也沒問題"/>
            <p:cNvSpPr txBox="1"/>
            <p:nvPr/>
          </p:nvSpPr>
          <p:spPr>
            <a:xfrm>
              <a:off x="182879" y="264414"/>
              <a:ext cx="1001268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3D5A8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pPr/>
              <a:r>
                <a:t>不強制統一語言：投影示範用中文介面，學員機器保留英文也沒問題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介面五大分區</a:t>
            </a:r>
          </a:p>
        </p:txBody>
      </p:sp>
      <p:sp>
        <p:nvSpPr>
          <p:cNvPr id="173" name="TextBox 4"/>
          <p:cNvSpPr txBox="1"/>
          <p:nvPr/>
        </p:nvSpPr>
        <p:spPr>
          <a:xfrm>
            <a:off x="868679" y="1737360"/>
            <a:ext cx="10149842" cy="218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Activity Bar（左側最窄那排圖示）：切換功能面板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側邊欄：檔案總管、搜尋、原始碼控制、擴充套件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編輯區：真正打字的地方，可分割成多個分頁/窗格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狀態列（底部）：語言、編碼、游標位置、Git 分支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右上角工具列：分割編輯器、開啟終端機、切換版面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最上方選單列（File / Edit / View…）</a:t>
            </a:r>
          </a:p>
        </p:txBody>
      </p:sp>
      <p:sp>
        <p:nvSpPr>
          <p:cNvPr id="177" name="TextBox 4"/>
          <p:cNvSpPr txBox="1"/>
          <p:nvPr/>
        </p:nvSpPr>
        <p:spPr>
          <a:xfrm>
            <a:off x="868679" y="1737360"/>
            <a:ext cx="10149842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跟命令面板是兩條通往同樣功能的路，更適合「用滑鼠慢慢找」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File：Open Folder、Save、Save As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View：開啟 Explorer、Terminal、Extensions 等面板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Run：之後執行 Python 爬蟲腳本時也能從這裡執行</a:t>
            </a:r>
          </a:p>
        </p:txBody>
      </p:sp>
      <p:grpSp>
        <p:nvGrpSpPr>
          <p:cNvPr id="180" name="Rectangle 5"/>
          <p:cNvGrpSpPr/>
          <p:nvPr/>
        </p:nvGrpSpPr>
        <p:grpSpPr>
          <a:xfrm>
            <a:off x="822959" y="4114799"/>
            <a:ext cx="10241282" cy="822962"/>
            <a:chOff x="0" y="0"/>
            <a:chExt cx="10241280" cy="822960"/>
          </a:xfrm>
        </p:grpSpPr>
        <p:sp>
          <p:nvSpPr>
            <p:cNvPr id="178" name="矩形"/>
            <p:cNvSpPr/>
            <p:nvPr/>
          </p:nvSpPr>
          <p:spPr>
            <a:xfrm>
              <a:off x="-1" y="-1"/>
              <a:ext cx="10241282" cy="822962"/>
            </a:xfrm>
            <a:prstGeom prst="rect">
              <a:avLst/>
            </a:prstGeom>
            <a:solidFill>
              <a:srgbClr val="F6E9D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9" name="視窗變窄時選單列會摺疊成「⋯」（More Actions）圖示，收進 Terminal、Help 等選項——別以為選單不見了"/>
            <p:cNvSpPr txBox="1"/>
            <p:nvPr/>
          </p:nvSpPr>
          <p:spPr>
            <a:xfrm>
              <a:off x="182879" y="264414"/>
              <a:ext cx="1001268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C8863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pPr/>
              <a:r>
                <a:t>視窗變窄時選單列會摺疊成「⋯」（More Actions）圖示，收進 Terminal、Help 等選項——別以為選單不見了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2"/>
          <p:cNvSpPr txBox="1"/>
          <p:nvPr/>
        </p:nvSpPr>
        <p:spPr>
          <a:xfrm>
            <a:off x="777239" y="561340"/>
            <a:ext cx="99669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☕ BREAK</a:t>
            </a:r>
          </a:p>
        </p:txBody>
      </p:sp>
      <p:sp>
        <p:nvSpPr>
          <p:cNvPr id="184" name="TextBox 3"/>
          <p:cNvSpPr txBox="1"/>
          <p:nvPr/>
        </p:nvSpPr>
        <p:spPr>
          <a:xfrm>
            <a:off x="777239" y="1005839"/>
            <a:ext cx="10424161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休息 10 分鐘</a:t>
            </a:r>
          </a:p>
        </p:txBody>
      </p:sp>
      <p:sp>
        <p:nvSpPr>
          <p:cNvPr id="185" name="TextBox 4"/>
          <p:cNvSpPr txBox="1"/>
          <p:nvPr/>
        </p:nvSpPr>
        <p:spPr>
          <a:xfrm>
            <a:off x="777239" y="2103120"/>
            <a:ext cx="99669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01:40 – 01:50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多游標與搜尋取代</a:t>
            </a:r>
          </a:p>
        </p:txBody>
      </p:sp>
      <p:sp>
        <p:nvSpPr>
          <p:cNvPr id="189" name="TextBox 4"/>
          <p:cNvSpPr txBox="1"/>
          <p:nvPr/>
        </p:nvSpPr>
        <p:spPr>
          <a:xfrm>
            <a:off x="868679" y="1737360"/>
            <a:ext cx="10149842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Alt（Mac：Option）+ 點擊多處，同時打字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Ctrl+F 尋找、Ctrl+H 取代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Ctrl+Shift+F 跨整個專案搜尋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常用快捷鍵小抄</a:t>
            </a:r>
          </a:p>
        </p:txBody>
      </p:sp>
      <p:sp>
        <p:nvSpPr>
          <p:cNvPr id="193" name="TextBox 4"/>
          <p:cNvSpPr txBox="1"/>
          <p:nvPr/>
        </p:nvSpPr>
        <p:spPr>
          <a:xfrm>
            <a:off x="868679" y="1737360"/>
            <a:ext cx="10149842" cy="307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命令面板：Ctrl+Shift+P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快速切換檔案：Ctrl+P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開啟／收起終端機：Ctrl+`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複製整行：Shift+Alt+↓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單行註解：Ctrl+/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分割編輯器：Ctrl+\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格式化文件：Shift+Alt+F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擴充套件：安裝 Python</a:t>
            </a:r>
          </a:p>
        </p:txBody>
      </p:sp>
      <p:sp>
        <p:nvSpPr>
          <p:cNvPr id="197" name="TextBox 4"/>
          <p:cNvSpPr txBox="1"/>
          <p:nvPr/>
        </p:nvSpPr>
        <p:spPr>
          <a:xfrm>
            <a:off x="868679" y="1737360"/>
            <a:ext cx="10149842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主題、字型、中文包已在課程一開頭裝過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Activity Bar 中方塊圖示 → Extensions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安裝 Python（Microsoft 官方）：等下寫爬蟲要用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示範停用 / 解除安裝套件的差異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內建終端機</a:t>
            </a:r>
          </a:p>
        </p:txBody>
      </p:sp>
      <p:sp>
        <p:nvSpPr>
          <p:cNvPr id="201" name="TextBox 4"/>
          <p:cNvSpPr txBox="1"/>
          <p:nvPr/>
        </p:nvSpPr>
        <p:spPr>
          <a:xfrm>
            <a:off x="868679" y="1737360"/>
            <a:ext cx="1014984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•  Ctrl+` 開啟整合終端機——在目前資料夾底下開的命令列</a:t>
            </a:r>
          </a:p>
        </p:txBody>
      </p:sp>
      <p:grpSp>
        <p:nvGrpSpPr>
          <p:cNvPr id="204" name="Rectangle 5"/>
          <p:cNvGrpSpPr/>
          <p:nvPr/>
        </p:nvGrpSpPr>
        <p:grpSpPr>
          <a:xfrm>
            <a:off x="822959" y="2743199"/>
            <a:ext cx="10241282" cy="1463042"/>
            <a:chOff x="0" y="0"/>
            <a:chExt cx="10241280" cy="1463040"/>
          </a:xfrm>
        </p:grpSpPr>
        <p:sp>
          <p:nvSpPr>
            <p:cNvPr id="202" name="矩形"/>
            <p:cNvSpPr/>
            <p:nvPr/>
          </p:nvSpPr>
          <p:spPr>
            <a:xfrm>
              <a:off x="-1" y="-1"/>
              <a:ext cx="10241282" cy="1463042"/>
            </a:xfrm>
            <a:prstGeom prst="rect">
              <a:avLst/>
            </a:prstGeom>
            <a:solidFill>
              <a:srgbClr val="1E1E2E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3" name="python --version…"/>
            <p:cNvSpPr txBox="1"/>
            <p:nvPr/>
          </p:nvSpPr>
          <p:spPr>
            <a:xfrm>
              <a:off x="137159" y="388620"/>
              <a:ext cx="10058401" cy="777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400">
                  <a:solidFill>
                    <a:srgbClr val="D4D4D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python --version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D4D4D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cd Desktop/vscode-workshop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D4D4D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dir   # macOS </a:t>
              </a:r>
              <a:r>
                <a:t>用 </a:t>
              </a:r>
              <a:r>
                <a:t>ls</a:t>
              </a:r>
            </a:p>
          </p:txBody>
        </p:sp>
      </p:grpSp>
      <p:grpSp>
        <p:nvGrpSpPr>
          <p:cNvPr id="207" name="Rectangle 6"/>
          <p:cNvGrpSpPr/>
          <p:nvPr/>
        </p:nvGrpSpPr>
        <p:grpSpPr>
          <a:xfrm>
            <a:off x="822959" y="4480559"/>
            <a:ext cx="10241282" cy="822961"/>
            <a:chOff x="0" y="0"/>
            <a:chExt cx="10241280" cy="822960"/>
          </a:xfrm>
        </p:grpSpPr>
        <p:sp>
          <p:nvSpPr>
            <p:cNvPr id="205" name="矩形"/>
            <p:cNvSpPr/>
            <p:nvPr/>
          </p:nvSpPr>
          <p:spPr>
            <a:xfrm>
              <a:off x="-1" y="-1"/>
              <a:ext cx="10241282" cy="822962"/>
            </a:xfrm>
            <a:prstGeom prst="rect">
              <a:avLst/>
            </a:prstGeom>
            <a:solidFill>
              <a:srgbClr val="F6E9D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6" name="常見卡點：Windows 上可能要打 py；macOS 上可能要打 python3。上課前務必實測學員機型"/>
            <p:cNvSpPr txBox="1"/>
            <p:nvPr/>
          </p:nvSpPr>
          <p:spPr>
            <a:xfrm>
              <a:off x="182879" y="264414"/>
              <a:ext cx="1001268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C8863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pPr/>
              <a:r>
                <a:t>常見卡點：Windows 上可能要打 py；macOS 上可能要打 python3。上課前務必實測學員機型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Git 基礎操作</a:t>
            </a:r>
          </a:p>
        </p:txBody>
      </p:sp>
      <p:sp>
        <p:nvSpPr>
          <p:cNvPr id="211" name="TextBox 4"/>
          <p:cNvSpPr txBox="1"/>
          <p:nvPr/>
        </p:nvSpPr>
        <p:spPr>
          <a:xfrm>
            <a:off x="868679" y="1737360"/>
            <a:ext cx="10149842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終端機輸入 git init 初始化版本控制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編輯檔案後，左側「原始碼控制」圖示會顯示變更數量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訊息框輸入說明文字，Ctrl+Enter 完成 commit</a:t>
            </a:r>
          </a:p>
        </p:txBody>
      </p:sp>
      <p:grpSp>
        <p:nvGrpSpPr>
          <p:cNvPr id="214" name="Rectangle 5"/>
          <p:cNvGrpSpPr/>
          <p:nvPr/>
        </p:nvGrpSpPr>
        <p:grpSpPr>
          <a:xfrm>
            <a:off x="822959" y="3657599"/>
            <a:ext cx="10241282" cy="822962"/>
            <a:chOff x="0" y="0"/>
            <a:chExt cx="10241280" cy="822960"/>
          </a:xfrm>
        </p:grpSpPr>
        <p:sp>
          <p:nvSpPr>
            <p:cNvPr id="212" name="矩形"/>
            <p:cNvSpPr/>
            <p:nvPr/>
          </p:nvSpPr>
          <p:spPr>
            <a:xfrm>
              <a:off x="-1" y="-1"/>
              <a:ext cx="10241282" cy="822962"/>
            </a:xfrm>
            <a:prstGeom prst="rect">
              <a:avLst/>
            </a:prstGeom>
            <a:solidFill>
              <a:srgbClr val="E8EEF4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3" name="教學用意：不深入教 Git 指令，只讓學員知道「存檔的存檔」這個概念存在"/>
            <p:cNvSpPr txBox="1"/>
            <p:nvPr/>
          </p:nvSpPr>
          <p:spPr>
            <a:xfrm>
              <a:off x="182879" y="264414"/>
              <a:ext cx="1001268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3D5A8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pPr/>
              <a:r>
                <a:t>教學用意：不深入教 Git 指令，只讓學員知道「存檔的存檔」這個概念存在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授權說明 · 靶機練習</a:t>
            </a:r>
          </a:p>
        </p:txBody>
      </p:sp>
      <p:sp>
        <p:nvSpPr>
          <p:cNvPr id="218" name="TextBox 4"/>
          <p:cNvSpPr txBox="1"/>
          <p:nvPr/>
        </p:nvSpPr>
        <p:spPr>
          <a:xfrm>
            <a:off x="868679" y="1737360"/>
            <a:ext cx="10149842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本練習使用講師自架的教學用簽到系統（靶機）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僅供本課程授權環境練習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情境：API 缺少授權驗證（Broken Authentication / Missing Access Control）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對應 OWASP API Security Top 10 — API2 類別</a:t>
            </a:r>
          </a:p>
        </p:txBody>
      </p:sp>
      <p:grpSp>
        <p:nvGrpSpPr>
          <p:cNvPr id="221" name="Rectangle 5"/>
          <p:cNvGrpSpPr/>
          <p:nvPr/>
        </p:nvGrpSpPr>
        <p:grpSpPr>
          <a:xfrm>
            <a:off x="822959" y="4114799"/>
            <a:ext cx="10241282" cy="822962"/>
            <a:chOff x="0" y="0"/>
            <a:chExt cx="10241280" cy="822960"/>
          </a:xfrm>
        </p:grpSpPr>
        <p:sp>
          <p:nvSpPr>
            <p:cNvPr id="219" name="矩形"/>
            <p:cNvSpPr/>
            <p:nvPr/>
          </p:nvSpPr>
          <p:spPr>
            <a:xfrm>
              <a:off x="-1" y="-1"/>
              <a:ext cx="10241282" cy="822962"/>
            </a:xfrm>
            <a:prstGeom prst="rect">
              <a:avLst/>
            </a:prstGeom>
            <a:solidFill>
              <a:srgbClr val="F6E9D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0" name="請提醒學員：此手法僅可用於自己架設或明確授權的系統"/>
            <p:cNvSpPr txBox="1"/>
            <p:nvPr/>
          </p:nvSpPr>
          <p:spPr>
            <a:xfrm>
              <a:off x="182879" y="264414"/>
              <a:ext cx="1001268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C8863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pPr/>
              <a:r>
                <a:t>請提醒學員：此手法僅可用於自己架設或明確授權的系統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觀察靶機：從 /docs 看到所有 API</a:t>
            </a:r>
          </a:p>
        </p:txBody>
      </p:sp>
      <p:sp>
        <p:nvSpPr>
          <p:cNvPr id="225" name="TextBox 4"/>
          <p:cNvSpPr txBox="1"/>
          <p:nvPr/>
        </p:nvSpPr>
        <p:spPr>
          <a:xfrm>
            <a:off x="868679" y="1737360"/>
            <a:ext cx="10149842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介面上開放了 API 文件頁（如 FastAPI 的 /docs）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任何人都能看到完整端點清單與參數格式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呼叫時不需要任何登入 token</a:t>
            </a:r>
          </a:p>
        </p:txBody>
      </p:sp>
      <p:grpSp>
        <p:nvGrpSpPr>
          <p:cNvPr id="228" name="Rectangle 5"/>
          <p:cNvGrpSpPr/>
          <p:nvPr/>
        </p:nvGrpSpPr>
        <p:grpSpPr>
          <a:xfrm>
            <a:off x="822959" y="3657599"/>
            <a:ext cx="10241282" cy="822962"/>
            <a:chOff x="0" y="0"/>
            <a:chExt cx="10241280" cy="822960"/>
          </a:xfrm>
        </p:grpSpPr>
        <p:sp>
          <p:nvSpPr>
            <p:cNvPr id="226" name="矩形"/>
            <p:cNvSpPr/>
            <p:nvPr/>
          </p:nvSpPr>
          <p:spPr>
            <a:xfrm>
              <a:off x="-1" y="-1"/>
              <a:ext cx="10241282" cy="822962"/>
            </a:xfrm>
            <a:prstGeom prst="rect">
              <a:avLst/>
            </a:prstGeom>
            <a:solidFill>
              <a:srgbClr val="E8EEF4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7" name="帶學員做：打開靶機 /docs，用「Try it out」手動呼叫一次，確認不需登入就能成功"/>
            <p:cNvSpPr txBox="1"/>
            <p:nvPr/>
          </p:nvSpPr>
          <p:spPr>
            <a:xfrm>
              <a:off x="182879" y="264414"/>
              <a:ext cx="1001268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3D5A8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defRPr>
              </a:lvl1pPr>
            </a:lstStyle>
            <a:p>
              <a:pPr/>
              <a:r>
                <a:t>帶學員做：打開靶機 /docs，用「Try it out」手動呼叫一次，確認不需登入就能成功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寫最小可行的 Python 呼叫腳本</a:t>
            </a:r>
          </a:p>
        </p:txBody>
      </p:sp>
      <p:sp>
        <p:nvSpPr>
          <p:cNvPr id="232" name="TextBox 4"/>
          <p:cNvSpPr txBox="1"/>
          <p:nvPr/>
        </p:nvSpPr>
        <p:spPr>
          <a:xfrm>
            <a:off x="868679" y="1737360"/>
            <a:ext cx="10149842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新建 checkin.py，安裝 requests 套件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端點路徑、參數欄位請依實際靶機規格調整</a:t>
            </a:r>
          </a:p>
        </p:txBody>
      </p:sp>
      <p:grpSp>
        <p:nvGrpSpPr>
          <p:cNvPr id="235" name="Rectangle 5"/>
          <p:cNvGrpSpPr/>
          <p:nvPr/>
        </p:nvGrpSpPr>
        <p:grpSpPr>
          <a:xfrm>
            <a:off x="822959" y="3200399"/>
            <a:ext cx="10241282" cy="1489712"/>
            <a:chOff x="0" y="0"/>
            <a:chExt cx="10241280" cy="1489709"/>
          </a:xfrm>
        </p:grpSpPr>
        <p:sp>
          <p:nvSpPr>
            <p:cNvPr id="233" name="矩形"/>
            <p:cNvSpPr/>
            <p:nvPr/>
          </p:nvSpPr>
          <p:spPr>
            <a:xfrm>
              <a:off x="0" y="0"/>
              <a:ext cx="10241281" cy="1463041"/>
            </a:xfrm>
            <a:prstGeom prst="rect">
              <a:avLst/>
            </a:prstGeom>
            <a:solidFill>
              <a:srgbClr val="1E1E2E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4" name="import requests…"/>
            <p:cNvSpPr txBox="1"/>
            <p:nvPr/>
          </p:nvSpPr>
          <p:spPr>
            <a:xfrm>
              <a:off x="137159" y="64770"/>
              <a:ext cx="10058401" cy="1424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400">
                  <a:solidFill>
                    <a:srgbClr val="D4D4D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import requests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D4D4D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BASE_URL = "http://</a:t>
              </a:r>
              <a:r>
                <a:t>靶機位址</a:t>
              </a:r>
              <a:r>
                <a:t>"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D4D4D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D4D4D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def checkin(user_id):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D4D4D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r = requests.post(f"{BASE_URL}/api/checkin", json={"user_id": user_id})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D4D4D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print(r.status_code, r.json())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討論：這個漏洞為什麼危險？</a:t>
            </a:r>
          </a:p>
        </p:txBody>
      </p:sp>
      <p:sp>
        <p:nvSpPr>
          <p:cNvPr id="239" name="TextBox 4"/>
          <p:cNvSpPr txBox="1"/>
          <p:nvPr/>
        </p:nvSpPr>
        <p:spPr>
          <a:xfrm>
            <a:off x="868679" y="1737360"/>
            <a:ext cx="10149842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沒有驗證使用者身分（token / session）→ 任何人可代簽他人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公開的 /docs 等於把「攻擊地圖」直接給了所有人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正確修法：每個請求驗證登入身分，且只能操作自己的紀錄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3D5A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2"/>
          <p:cNvSpPr txBox="1"/>
          <p:nvPr/>
        </p:nvSpPr>
        <p:spPr>
          <a:xfrm>
            <a:off x="777239" y="411480"/>
            <a:ext cx="99669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課後</a:t>
            </a:r>
          </a:p>
        </p:txBody>
      </p:sp>
      <p:sp>
        <p:nvSpPr>
          <p:cNvPr id="243" name="TextBox 3"/>
          <p:cNvSpPr txBox="1"/>
          <p:nvPr/>
        </p:nvSpPr>
        <p:spPr>
          <a:xfrm>
            <a:off x="777239" y="777240"/>
            <a:ext cx="104241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</a:lstStyle>
          <a:p>
            <a:pPr/>
            <a:r>
              <a:t>自我檢查清單</a:t>
            </a:r>
          </a:p>
        </p:txBody>
      </p:sp>
      <p:sp>
        <p:nvSpPr>
          <p:cNvPr id="244" name="TextBox 4"/>
          <p:cNvSpPr txBox="1"/>
          <p:nvPr/>
        </p:nvSpPr>
        <p:spPr>
          <a:xfrm>
            <a:off x="868679" y="1737360"/>
            <a:ext cx="10149842" cy="307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能獨立安裝 VS Code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能開啟資料夾，並用 Office 擴充套件直接瀏覽 PPT / Word 文件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能切換喜歡的色彩主題與字型，依個人習慣決定是否切換為繁體中文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能講出五大介面分區與選單列的用途，並用命令面板找到任何功能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能使用多游標與搜尋取代加速編輯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能安裝擴充套件（Python）並開啟整合終端機執行基本指令</a:t>
            </a:r>
          </a:p>
          <a:p>
            <a:pPr>
              <a:spcBef>
                <a:spcPts val="1000"/>
              </a:spcBef>
              <a:defRPr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•  理解「API 缺少授權驗證」為何是安全風險，並僅在授權環境中練習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